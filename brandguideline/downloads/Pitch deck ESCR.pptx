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kzidenz-Grotesk" panose="020B0604020202020204" charset="0"/>
      <p:regular r:id="rId16"/>
    </p:embeddedFont>
    <p:embeddedFont>
      <p:font typeface="Akzidenz-Grotesk Medium" panose="020B0604020202020204" charset="0"/>
      <p:regular r:id="rId17"/>
    </p:embeddedFont>
    <p:embeddedFont>
      <p:font typeface="Libre Franklin" pitchFamily="2" charset="0"/>
      <p:regular r:id="rId18"/>
    </p:embeddedFont>
    <p:embeddedFont>
      <p:font typeface="Libre Franklin Bold" charset="0"/>
      <p:regular r:id="rId19"/>
    </p:embeddedFont>
    <p:embeddedFont>
      <p:font typeface="Libre Franklin Medium" pitchFamily="2" charset="0"/>
      <p:regular r:id="rId20"/>
    </p:embeddedFont>
    <p:embeddedFont>
      <p:font typeface="Libre Franklin Semi-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0" d="100"/>
          <a:sy n="60" d="100"/>
        </p:scale>
        <p:origin x="-328" y="-4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9.sv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jpeg"/><Relationship Id="rId10" Type="http://schemas.openxmlformats.org/officeDocument/2006/relationships/image" Target="../media/image2.svg"/><Relationship Id="rId4" Type="http://schemas.openxmlformats.org/officeDocument/2006/relationships/image" Target="../media/image10.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4.jpeg"/><Relationship Id="rId7"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4.svg"/><Relationship Id="rId3" Type="http://schemas.openxmlformats.org/officeDocument/2006/relationships/image" Target="../media/image36.svg"/><Relationship Id="rId7" Type="http://schemas.openxmlformats.org/officeDocument/2006/relationships/image" Target="../media/image40.svg"/><Relationship Id="rId12" Type="http://schemas.openxmlformats.org/officeDocument/2006/relationships/image" Target="../media/image43.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7.svg"/><Relationship Id="rId5" Type="http://schemas.openxmlformats.org/officeDocument/2006/relationships/image" Target="../media/image38.svg"/><Relationship Id="rId10" Type="http://schemas.openxmlformats.org/officeDocument/2006/relationships/image" Target="../media/image6.png"/><Relationship Id="rId4" Type="http://schemas.openxmlformats.org/officeDocument/2006/relationships/image" Target="../media/image37.png"/><Relationship Id="rId9" Type="http://schemas.openxmlformats.org/officeDocument/2006/relationships/image" Target="../media/image4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7F2191">
                <a:alpha val="100000"/>
              </a:srgbClr>
            </a:gs>
            <a:gs pos="100000">
              <a:srgbClr val="4C005A">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185750" y="3130946"/>
            <a:ext cx="11816727" cy="3684270"/>
          </a:xfrm>
          <a:prstGeom prst="rect">
            <a:avLst/>
          </a:prstGeom>
        </p:spPr>
        <p:txBody>
          <a:bodyPr lIns="0" tIns="0" rIns="0" bIns="0" rtlCol="0" anchor="t">
            <a:spAutoFit/>
          </a:bodyPr>
          <a:lstStyle/>
          <a:p>
            <a:pPr algn="just">
              <a:lnSpc>
                <a:spcPts val="13440"/>
              </a:lnSpc>
            </a:pPr>
            <a:r>
              <a:rPr lang="en-US" sz="12000">
                <a:solidFill>
                  <a:srgbClr val="FFFFFF"/>
                </a:solidFill>
                <a:latin typeface="Akzidenz-Grotesk"/>
                <a:ea typeface="Akzidenz-Grotesk"/>
                <a:cs typeface="Akzidenz-Grotesk"/>
                <a:sym typeface="Akzidenz-Grotesk"/>
              </a:rPr>
              <a:t>Présentation </a:t>
            </a:r>
          </a:p>
          <a:p>
            <a:pPr algn="just">
              <a:lnSpc>
                <a:spcPts val="13440"/>
              </a:lnSpc>
            </a:pPr>
            <a:r>
              <a:rPr lang="en-US" sz="12000">
                <a:solidFill>
                  <a:srgbClr val="FFFFFF"/>
                </a:solidFill>
                <a:latin typeface="Akzidenz-Grotesk"/>
                <a:ea typeface="Akzidenz-Grotesk"/>
                <a:cs typeface="Akzidenz-Grotesk"/>
                <a:sym typeface="Akzidenz-Grotesk"/>
              </a:rPr>
              <a:t>de la CRO</a:t>
            </a:r>
          </a:p>
        </p:txBody>
      </p:sp>
      <p:grpSp>
        <p:nvGrpSpPr>
          <p:cNvPr id="3" name="Group 3"/>
          <p:cNvGrpSpPr/>
          <p:nvPr/>
        </p:nvGrpSpPr>
        <p:grpSpPr>
          <a:xfrm>
            <a:off x="1268975" y="7134828"/>
            <a:ext cx="811960" cy="201930"/>
            <a:chOff x="0" y="0"/>
            <a:chExt cx="1082614" cy="269240"/>
          </a:xfrm>
        </p:grpSpPr>
        <p:grpSp>
          <p:nvGrpSpPr>
            <p:cNvPr id="4" name="Group 4"/>
            <p:cNvGrpSpPr/>
            <p:nvPr/>
          </p:nvGrpSpPr>
          <p:grpSpPr>
            <a:xfrm>
              <a:off x="0" y="0"/>
              <a:ext cx="269240" cy="269240"/>
              <a:chOff x="0" y="0"/>
              <a:chExt cx="145045" cy="145045"/>
            </a:xfrm>
          </p:grpSpPr>
          <p:sp>
            <p:nvSpPr>
              <p:cNvPr id="5" name="Freeform 5"/>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6" name="TextBox 6"/>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nvGrpSpPr>
            <p:cNvPr id="7" name="Group 7"/>
            <p:cNvGrpSpPr/>
            <p:nvPr/>
          </p:nvGrpSpPr>
          <p:grpSpPr>
            <a:xfrm>
              <a:off x="404434" y="0"/>
              <a:ext cx="269240" cy="269240"/>
              <a:chOff x="0" y="0"/>
              <a:chExt cx="145045" cy="145045"/>
            </a:xfrm>
          </p:grpSpPr>
          <p:sp>
            <p:nvSpPr>
              <p:cNvPr id="8" name="Freeform 8"/>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9" name="TextBox 9"/>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nvGrpSpPr>
            <p:cNvPr id="10" name="Group 10"/>
            <p:cNvGrpSpPr/>
            <p:nvPr/>
          </p:nvGrpSpPr>
          <p:grpSpPr>
            <a:xfrm>
              <a:off x="813374" y="0"/>
              <a:ext cx="269240" cy="269240"/>
              <a:chOff x="0" y="0"/>
              <a:chExt cx="145045" cy="145045"/>
            </a:xfrm>
          </p:grpSpPr>
          <p:sp>
            <p:nvSpPr>
              <p:cNvPr id="11" name="Freeform 11"/>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12" name="TextBox 12"/>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sp>
        <p:nvSpPr>
          <p:cNvPr id="13" name="Freeform 13"/>
          <p:cNvSpPr/>
          <p:nvPr/>
        </p:nvSpPr>
        <p:spPr>
          <a:xfrm rot="2242030">
            <a:off x="15316918" y="7050184"/>
            <a:ext cx="4788950" cy="4788950"/>
          </a:xfrm>
          <a:custGeom>
            <a:avLst/>
            <a:gdLst/>
            <a:ahLst/>
            <a:cxnLst/>
            <a:rect l="l" t="t" r="r" b="b"/>
            <a:pathLst>
              <a:path w="4788950" h="4788950">
                <a:moveTo>
                  <a:pt x="0" y="0"/>
                </a:moveTo>
                <a:lnTo>
                  <a:pt x="4788950" y="0"/>
                </a:lnTo>
                <a:lnTo>
                  <a:pt x="4788950" y="4788950"/>
                </a:lnTo>
                <a:lnTo>
                  <a:pt x="0" y="4788950"/>
                </a:lnTo>
                <a:lnTo>
                  <a:pt x="0" y="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sp>
      <p:sp>
        <p:nvSpPr>
          <p:cNvPr id="14" name="Freeform 14"/>
          <p:cNvSpPr/>
          <p:nvPr/>
        </p:nvSpPr>
        <p:spPr>
          <a:xfrm>
            <a:off x="12041448" y="1028700"/>
            <a:ext cx="5217852" cy="1318693"/>
          </a:xfrm>
          <a:custGeom>
            <a:avLst/>
            <a:gdLst/>
            <a:ahLst/>
            <a:cxnLst/>
            <a:rect l="l" t="t" r="r" b="b"/>
            <a:pathLst>
              <a:path w="5217852" h="1318693">
                <a:moveTo>
                  <a:pt x="0" y="0"/>
                </a:moveTo>
                <a:lnTo>
                  <a:pt x="5217852" y="0"/>
                </a:lnTo>
                <a:lnTo>
                  <a:pt x="5217852" y="1318693"/>
                </a:lnTo>
                <a:lnTo>
                  <a:pt x="0" y="13186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1185750" y="7857429"/>
            <a:ext cx="9600941" cy="1109345"/>
          </a:xfrm>
          <a:prstGeom prst="rect">
            <a:avLst/>
          </a:prstGeom>
        </p:spPr>
        <p:txBody>
          <a:bodyPr lIns="0" tIns="0" rIns="0" bIns="0" rtlCol="0" anchor="t">
            <a:spAutoFit/>
          </a:bodyPr>
          <a:lstStyle/>
          <a:p>
            <a:pPr marL="0" lvl="0" indent="0" algn="l">
              <a:lnSpc>
                <a:spcPts val="4480"/>
              </a:lnSpc>
            </a:pPr>
            <a:r>
              <a:rPr lang="en-US" sz="3200" spc="28">
                <a:solidFill>
                  <a:srgbClr val="FFFFFF"/>
                </a:solidFill>
                <a:latin typeface="Libre Franklin"/>
                <a:ea typeface="Libre Franklin"/>
                <a:cs typeface="Libre Franklin"/>
                <a:sym typeface="Libre Franklin"/>
              </a:rPr>
              <a:t>Exp</a:t>
            </a:r>
            <a:r>
              <a:rPr lang="en-US" sz="3200" u="none" strike="noStrike" spc="28">
                <a:solidFill>
                  <a:srgbClr val="FFFFFF"/>
                </a:solidFill>
                <a:latin typeface="Libre Franklin"/>
                <a:ea typeface="Libre Franklin"/>
                <a:cs typeface="Libre Franklin"/>
                <a:sym typeface="Libre Franklin"/>
              </a:rPr>
              <a:t>ertise en études cliniques, gestion de projets et conformité réglementaire.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0024" y="5527966"/>
            <a:ext cx="6308019" cy="5687826"/>
            <a:chOff x="0" y="0"/>
            <a:chExt cx="355730" cy="320755"/>
          </a:xfrm>
        </p:grpSpPr>
        <p:sp>
          <p:nvSpPr>
            <p:cNvPr id="3" name="Freeform 3"/>
            <p:cNvSpPr/>
            <p:nvPr/>
          </p:nvSpPr>
          <p:spPr>
            <a:xfrm>
              <a:off x="0" y="0"/>
              <a:ext cx="355730" cy="320755"/>
            </a:xfrm>
            <a:custGeom>
              <a:avLst/>
              <a:gdLst/>
              <a:ahLst/>
              <a:cxnLst/>
              <a:rect l="l" t="t" r="r" b="b"/>
              <a:pathLst>
                <a:path w="355730" h="320755">
                  <a:moveTo>
                    <a:pt x="19637" y="0"/>
                  </a:moveTo>
                  <a:lnTo>
                    <a:pt x="336093" y="0"/>
                  </a:lnTo>
                  <a:cubicBezTo>
                    <a:pt x="346938" y="0"/>
                    <a:pt x="355730" y="8792"/>
                    <a:pt x="355730" y="19637"/>
                  </a:cubicBezTo>
                  <a:lnTo>
                    <a:pt x="355730" y="301118"/>
                  </a:lnTo>
                  <a:cubicBezTo>
                    <a:pt x="355730" y="306326"/>
                    <a:pt x="353661" y="311321"/>
                    <a:pt x="349978" y="315003"/>
                  </a:cubicBezTo>
                  <a:cubicBezTo>
                    <a:pt x="346295" y="318686"/>
                    <a:pt x="341301" y="320755"/>
                    <a:pt x="336093" y="320755"/>
                  </a:cubicBezTo>
                  <a:lnTo>
                    <a:pt x="19637" y="320755"/>
                  </a:lnTo>
                  <a:cubicBezTo>
                    <a:pt x="8792" y="320755"/>
                    <a:pt x="0" y="311963"/>
                    <a:pt x="0" y="301118"/>
                  </a:cubicBezTo>
                  <a:lnTo>
                    <a:pt x="0" y="19637"/>
                  </a:lnTo>
                  <a:cubicBezTo>
                    <a:pt x="0" y="8792"/>
                    <a:pt x="8792" y="0"/>
                    <a:pt x="19637" y="0"/>
                  </a:cubicBezTo>
                  <a:close/>
                </a:path>
              </a:pathLst>
            </a:custGeom>
            <a:solidFill>
              <a:srgbClr val="7F2191"/>
            </a:solidFill>
          </p:spPr>
        </p:sp>
        <p:sp>
          <p:nvSpPr>
            <p:cNvPr id="4" name="TextBox 4"/>
            <p:cNvSpPr txBox="1"/>
            <p:nvPr/>
          </p:nvSpPr>
          <p:spPr>
            <a:xfrm>
              <a:off x="0" y="-38100"/>
              <a:ext cx="355730" cy="358855"/>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69866" y="4662084"/>
            <a:ext cx="7213023" cy="4776199"/>
            <a:chOff x="0" y="0"/>
            <a:chExt cx="3436318" cy="2275404"/>
          </a:xfrm>
        </p:grpSpPr>
        <p:sp>
          <p:nvSpPr>
            <p:cNvPr id="6" name="Freeform 6"/>
            <p:cNvSpPr/>
            <p:nvPr/>
          </p:nvSpPr>
          <p:spPr>
            <a:xfrm>
              <a:off x="0" y="0"/>
              <a:ext cx="3436318" cy="2275404"/>
            </a:xfrm>
            <a:custGeom>
              <a:avLst/>
              <a:gdLst/>
              <a:ahLst/>
              <a:cxnLst/>
              <a:rect l="l" t="t" r="r" b="b"/>
              <a:pathLst>
                <a:path w="3436318" h="2275404">
                  <a:moveTo>
                    <a:pt x="20393" y="0"/>
                  </a:moveTo>
                  <a:lnTo>
                    <a:pt x="3415925" y="0"/>
                  </a:lnTo>
                  <a:cubicBezTo>
                    <a:pt x="3421333" y="0"/>
                    <a:pt x="3426521" y="2149"/>
                    <a:pt x="3430345" y="5973"/>
                  </a:cubicBezTo>
                  <a:cubicBezTo>
                    <a:pt x="3434169" y="9797"/>
                    <a:pt x="3436318" y="14985"/>
                    <a:pt x="3436318" y="20393"/>
                  </a:cubicBezTo>
                  <a:lnTo>
                    <a:pt x="3436318" y="2255011"/>
                  </a:lnTo>
                  <a:cubicBezTo>
                    <a:pt x="3436318" y="2266274"/>
                    <a:pt x="3427188" y="2275404"/>
                    <a:pt x="3415925" y="2275404"/>
                  </a:cubicBezTo>
                  <a:lnTo>
                    <a:pt x="20393" y="2275404"/>
                  </a:lnTo>
                  <a:cubicBezTo>
                    <a:pt x="14985" y="2275404"/>
                    <a:pt x="9797" y="2273255"/>
                    <a:pt x="5973" y="2269431"/>
                  </a:cubicBezTo>
                  <a:cubicBezTo>
                    <a:pt x="2149" y="2265606"/>
                    <a:pt x="0" y="2260419"/>
                    <a:pt x="0" y="2255011"/>
                  </a:cubicBezTo>
                  <a:lnTo>
                    <a:pt x="0" y="20393"/>
                  </a:lnTo>
                  <a:cubicBezTo>
                    <a:pt x="0" y="14985"/>
                    <a:pt x="2149" y="9797"/>
                    <a:pt x="5973" y="5973"/>
                  </a:cubicBezTo>
                  <a:cubicBezTo>
                    <a:pt x="9797" y="2149"/>
                    <a:pt x="14985" y="0"/>
                    <a:pt x="20393" y="0"/>
                  </a:cubicBezTo>
                  <a:close/>
                </a:path>
              </a:pathLst>
            </a:custGeom>
            <a:solidFill>
              <a:srgbClr val="FFFFFF"/>
            </a:solidFill>
          </p:spPr>
        </p:sp>
        <p:sp>
          <p:nvSpPr>
            <p:cNvPr id="7" name="TextBox 7"/>
            <p:cNvSpPr txBox="1"/>
            <p:nvPr/>
          </p:nvSpPr>
          <p:spPr>
            <a:xfrm>
              <a:off x="0" y="-38100"/>
              <a:ext cx="3436318" cy="231350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7334484"/>
            <a:chOff x="0" y="0"/>
            <a:chExt cx="929455" cy="1136304"/>
          </a:xfrm>
        </p:grpSpPr>
        <p:sp>
          <p:nvSpPr>
            <p:cNvPr id="9" name="Freeform 9"/>
            <p:cNvSpPr/>
            <p:nvPr/>
          </p:nvSpPr>
          <p:spPr>
            <a:xfrm>
              <a:off x="0" y="0"/>
              <a:ext cx="929455" cy="1136304"/>
            </a:xfrm>
            <a:custGeom>
              <a:avLst/>
              <a:gdLst/>
              <a:ahLst/>
              <a:cxnLst/>
              <a:rect l="l" t="t" r="r" b="b"/>
              <a:pathLst>
                <a:path w="929455" h="1136304">
                  <a:moveTo>
                    <a:pt x="29681" y="0"/>
                  </a:moveTo>
                  <a:lnTo>
                    <a:pt x="899774" y="0"/>
                  </a:lnTo>
                  <a:cubicBezTo>
                    <a:pt x="907646" y="0"/>
                    <a:pt x="915195" y="3127"/>
                    <a:pt x="920762" y="8693"/>
                  </a:cubicBezTo>
                  <a:cubicBezTo>
                    <a:pt x="926328" y="14259"/>
                    <a:pt x="929455" y="21809"/>
                    <a:pt x="929455" y="29681"/>
                  </a:cubicBezTo>
                  <a:lnTo>
                    <a:pt x="929455" y="1106623"/>
                  </a:lnTo>
                  <a:cubicBezTo>
                    <a:pt x="929455" y="1123015"/>
                    <a:pt x="916166" y="1136304"/>
                    <a:pt x="899774" y="1136304"/>
                  </a:cubicBezTo>
                  <a:lnTo>
                    <a:pt x="29681" y="1136304"/>
                  </a:lnTo>
                  <a:cubicBezTo>
                    <a:pt x="13288" y="1136304"/>
                    <a:pt x="0" y="1123015"/>
                    <a:pt x="0" y="1106623"/>
                  </a:cubicBezTo>
                  <a:lnTo>
                    <a:pt x="0" y="29681"/>
                  </a:lnTo>
                  <a:cubicBezTo>
                    <a:pt x="0" y="13288"/>
                    <a:pt x="13288" y="0"/>
                    <a:pt x="29681" y="0"/>
                  </a:cubicBezTo>
                  <a:close/>
                </a:path>
              </a:pathLst>
            </a:custGeom>
            <a:blipFill>
              <a:blip r:embed="rId2"/>
              <a:stretch>
                <a:fillRect l="-71661" r="-29575"/>
              </a:stretch>
            </a:blipFill>
            <a:ln cap="rnd">
              <a:noFill/>
              <a:prstDash val="solid"/>
              <a:round/>
            </a:ln>
          </p:spPr>
        </p:sp>
      </p:grpSp>
      <p:grpSp>
        <p:nvGrpSpPr>
          <p:cNvPr id="10" name="Group 10"/>
          <p:cNvGrpSpPr/>
          <p:nvPr/>
        </p:nvGrpSpPr>
        <p:grpSpPr>
          <a:xfrm>
            <a:off x="9577554" y="3228411"/>
            <a:ext cx="721810" cy="181928"/>
            <a:chOff x="0" y="0"/>
            <a:chExt cx="962414" cy="242570"/>
          </a:xfrm>
        </p:grpSpPr>
        <p:grpSp>
          <p:nvGrpSpPr>
            <p:cNvPr id="11" name="Group 11"/>
            <p:cNvGrpSpPr/>
            <p:nvPr/>
          </p:nvGrpSpPr>
          <p:grpSpPr>
            <a:xfrm>
              <a:off x="0" y="0"/>
              <a:ext cx="242570" cy="242570"/>
              <a:chOff x="0" y="0"/>
              <a:chExt cx="130677" cy="130677"/>
            </a:xfrm>
          </p:grpSpPr>
          <p:sp>
            <p:nvSpPr>
              <p:cNvPr id="12" name="Freeform 12"/>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3" name="TextBox 13"/>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4" name="Group 14"/>
            <p:cNvGrpSpPr/>
            <p:nvPr/>
          </p:nvGrpSpPr>
          <p:grpSpPr>
            <a:xfrm>
              <a:off x="356870" y="0"/>
              <a:ext cx="242570" cy="242570"/>
              <a:chOff x="0" y="0"/>
              <a:chExt cx="130677" cy="130677"/>
            </a:xfrm>
          </p:grpSpPr>
          <p:sp>
            <p:nvSpPr>
              <p:cNvPr id="15" name="Freeform 15"/>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6" name="TextBox 16"/>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7" name="Group 17"/>
            <p:cNvGrpSpPr/>
            <p:nvPr/>
          </p:nvGrpSpPr>
          <p:grpSpPr>
            <a:xfrm>
              <a:off x="719844" y="0"/>
              <a:ext cx="242570" cy="242570"/>
              <a:chOff x="0" y="0"/>
              <a:chExt cx="130677" cy="130677"/>
            </a:xfrm>
          </p:grpSpPr>
          <p:sp>
            <p:nvSpPr>
              <p:cNvPr id="18" name="Freeform 1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9" name="TextBox 1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0" name="Freeform 20"/>
          <p:cNvSpPr/>
          <p:nvPr/>
        </p:nvSpPr>
        <p:spPr>
          <a:xfrm>
            <a:off x="361077" y="361077"/>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rot="2040788">
            <a:off x="16852152" y="8659240"/>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
        <p:nvSpPr>
          <p:cNvPr id="22" name="TextBox 22"/>
          <p:cNvSpPr txBox="1"/>
          <p:nvPr/>
        </p:nvSpPr>
        <p:spPr>
          <a:xfrm>
            <a:off x="9572976" y="3988245"/>
            <a:ext cx="7686324" cy="3419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Fondée en 2023, ES-CR est spécialisée dans la recherche clinique en Algérie, alliant expertise locale et standards internationaux.</a:t>
            </a:r>
          </a:p>
          <a:p>
            <a:pPr algn="l">
              <a:lnSpc>
                <a:spcPts val="3000"/>
              </a:lnSpc>
            </a:pPr>
            <a:endParaRPr lang="en-US" sz="2000">
              <a:solidFill>
                <a:srgbClr val="000000"/>
              </a:solidFill>
              <a:latin typeface="Libre Franklin"/>
              <a:ea typeface="Libre Franklin"/>
              <a:cs typeface="Libre Franklin"/>
              <a:sym typeface="Libre Franklin"/>
            </a:endParaRPr>
          </a:p>
          <a:p>
            <a:pPr algn="l">
              <a:lnSpc>
                <a:spcPts val="3000"/>
              </a:lnSpc>
            </a:pPr>
            <a:r>
              <a:rPr lang="en-US" sz="2000">
                <a:solidFill>
                  <a:srgbClr val="000000"/>
                </a:solidFill>
                <a:latin typeface="Libre Franklin"/>
                <a:ea typeface="Libre Franklin"/>
                <a:cs typeface="Libre Franklin"/>
                <a:sym typeface="Libre Franklin"/>
              </a:rPr>
              <a:t>Portés par une équipe multidisciplinaire alliant expertise en recherche clinique, études pharmacoéconomiques, affaires médicales, enseignement académique et recherche, nous plaçons la qualité, la rigueur scientifique et l'excellence opérationnelle au cœur de notre activité.</a:t>
            </a:r>
          </a:p>
        </p:txBody>
      </p:sp>
      <p:sp>
        <p:nvSpPr>
          <p:cNvPr id="23" name="TextBox 23"/>
          <p:cNvSpPr txBox="1"/>
          <p:nvPr/>
        </p:nvSpPr>
        <p:spPr>
          <a:xfrm>
            <a:off x="9572976" y="1813099"/>
            <a:ext cx="6816011" cy="820738"/>
          </a:xfrm>
          <a:prstGeom prst="rect">
            <a:avLst/>
          </a:prstGeom>
        </p:spPr>
        <p:txBody>
          <a:bodyPr wrap="square" lIns="0" tIns="0" rIns="0" bIns="0" rtlCol="0" anchor="t">
            <a:spAutoFit/>
          </a:bodyPr>
          <a:lstStyle/>
          <a:p>
            <a:pPr marL="0" lvl="0" indent="0" algn="just">
              <a:lnSpc>
                <a:spcPts val="6359"/>
              </a:lnSpc>
              <a:spcBef>
                <a:spcPct val="0"/>
              </a:spcBef>
            </a:pPr>
            <a:r>
              <a:rPr lang="en-US" sz="5999" b="1" dirty="0">
                <a:solidFill>
                  <a:srgbClr val="50298E"/>
                </a:solidFill>
                <a:latin typeface="Akzidenz-Grotesk Medium"/>
                <a:ea typeface="Akzidenz-Grotesk Medium"/>
                <a:cs typeface="Akzidenz-Grotesk Medium"/>
                <a:sym typeface="Akzidenz-Grotesk Medium"/>
              </a:rPr>
              <a:t>À </a:t>
            </a:r>
            <a:r>
              <a:rPr lang="en-US" sz="5999" b="1" dirty="0" err="1">
                <a:solidFill>
                  <a:srgbClr val="50298E"/>
                </a:solidFill>
                <a:latin typeface="Akzidenz-Grotesk Medium"/>
                <a:ea typeface="Akzidenz-Grotesk Medium"/>
                <a:cs typeface="Akzidenz-Grotesk Medium"/>
                <a:sym typeface="Akzidenz-Grotesk Medium"/>
              </a:rPr>
              <a:t>Pr</a:t>
            </a:r>
            <a:r>
              <a:rPr lang="en-US" sz="5999" b="1" u="none" strike="noStrike" dirty="0" err="1">
                <a:solidFill>
                  <a:srgbClr val="50298E"/>
                </a:solidFill>
                <a:latin typeface="Akzidenz-Grotesk Medium"/>
                <a:ea typeface="Akzidenz-Grotesk Medium"/>
                <a:cs typeface="Akzidenz-Grotesk Medium"/>
                <a:sym typeface="Akzidenz-Grotesk Medium"/>
              </a:rPr>
              <a:t>opos</a:t>
            </a:r>
            <a:r>
              <a:rPr lang="en-US" sz="5999" b="1" u="none" strike="noStrike" dirty="0">
                <a:solidFill>
                  <a:srgbClr val="50298E"/>
                </a:solidFill>
                <a:latin typeface="Akzidenz-Grotesk Medium"/>
                <a:ea typeface="Akzidenz-Grotesk Medium"/>
                <a:cs typeface="Akzidenz-Grotesk Medium"/>
                <a:sym typeface="Akzidenz-Grotesk Medium"/>
              </a:rPr>
              <a:t> de Nous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44871" y="4236310"/>
            <a:ext cx="7158285" cy="7357645"/>
            <a:chOff x="0" y="0"/>
            <a:chExt cx="711820" cy="731643"/>
          </a:xfrm>
        </p:grpSpPr>
        <p:sp>
          <p:nvSpPr>
            <p:cNvPr id="3" name="Freeform 3"/>
            <p:cNvSpPr/>
            <p:nvPr/>
          </p:nvSpPr>
          <p:spPr>
            <a:xfrm>
              <a:off x="0" y="0"/>
              <a:ext cx="711820" cy="731643"/>
            </a:xfrm>
            <a:custGeom>
              <a:avLst/>
              <a:gdLst/>
              <a:ahLst/>
              <a:cxnLst/>
              <a:rect l="l" t="t" r="r" b="b"/>
              <a:pathLst>
                <a:path w="711820" h="731643">
                  <a:moveTo>
                    <a:pt x="711820" y="20549"/>
                  </a:moveTo>
                  <a:lnTo>
                    <a:pt x="711820" y="711094"/>
                  </a:lnTo>
                  <a:cubicBezTo>
                    <a:pt x="711820" y="722443"/>
                    <a:pt x="702619" y="731643"/>
                    <a:pt x="691270" y="731643"/>
                  </a:cubicBezTo>
                  <a:lnTo>
                    <a:pt x="20549" y="731643"/>
                  </a:lnTo>
                  <a:cubicBezTo>
                    <a:pt x="9200" y="731643"/>
                    <a:pt x="0" y="722443"/>
                    <a:pt x="0" y="711094"/>
                  </a:cubicBezTo>
                  <a:lnTo>
                    <a:pt x="0" y="20549"/>
                  </a:lnTo>
                  <a:cubicBezTo>
                    <a:pt x="0" y="9200"/>
                    <a:pt x="9200" y="0"/>
                    <a:pt x="20549" y="0"/>
                  </a:cubicBezTo>
                  <a:lnTo>
                    <a:pt x="691270" y="0"/>
                  </a:lnTo>
                  <a:cubicBezTo>
                    <a:pt x="702619" y="0"/>
                    <a:pt x="711820" y="9200"/>
                    <a:pt x="711820" y="20549"/>
                  </a:cubicBezTo>
                  <a:close/>
                </a:path>
              </a:pathLst>
            </a:custGeom>
            <a:solidFill>
              <a:srgbClr val="7F2191"/>
            </a:solidFill>
          </p:spPr>
        </p:sp>
        <p:sp>
          <p:nvSpPr>
            <p:cNvPr id="4" name="TextBox 4"/>
            <p:cNvSpPr txBox="1"/>
            <p:nvPr/>
          </p:nvSpPr>
          <p:spPr>
            <a:xfrm>
              <a:off x="0" y="-38100"/>
              <a:ext cx="711820" cy="76974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559206" y="4845420"/>
            <a:ext cx="252546" cy="377564"/>
          </a:xfrm>
          <a:custGeom>
            <a:avLst/>
            <a:gdLst/>
            <a:ahLst/>
            <a:cxnLst/>
            <a:rect l="l" t="t" r="r" b="b"/>
            <a:pathLst>
              <a:path w="252546" h="377564">
                <a:moveTo>
                  <a:pt x="0" y="0"/>
                </a:moveTo>
                <a:lnTo>
                  <a:pt x="252546" y="0"/>
                </a:lnTo>
                <a:lnTo>
                  <a:pt x="252546" y="377564"/>
                </a:lnTo>
                <a:lnTo>
                  <a:pt x="0" y="377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432933" y="7295095"/>
            <a:ext cx="252546" cy="377564"/>
          </a:xfrm>
          <a:custGeom>
            <a:avLst/>
            <a:gdLst/>
            <a:ahLst/>
            <a:cxnLst/>
            <a:rect l="l" t="t" r="r" b="b"/>
            <a:pathLst>
              <a:path w="252546" h="377564">
                <a:moveTo>
                  <a:pt x="0" y="0"/>
                </a:moveTo>
                <a:lnTo>
                  <a:pt x="252546" y="0"/>
                </a:lnTo>
                <a:lnTo>
                  <a:pt x="252546" y="377564"/>
                </a:lnTo>
                <a:lnTo>
                  <a:pt x="0" y="377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1029379" y="1028700"/>
            <a:ext cx="6229921" cy="6415221"/>
            <a:chOff x="0" y="0"/>
            <a:chExt cx="965178" cy="993886"/>
          </a:xfrm>
        </p:grpSpPr>
        <p:sp>
          <p:nvSpPr>
            <p:cNvPr id="8" name="Freeform 8"/>
            <p:cNvSpPr/>
            <p:nvPr/>
          </p:nvSpPr>
          <p:spPr>
            <a:xfrm>
              <a:off x="0" y="0"/>
              <a:ext cx="965178" cy="993886"/>
            </a:xfrm>
            <a:custGeom>
              <a:avLst/>
              <a:gdLst/>
              <a:ahLst/>
              <a:cxnLst/>
              <a:rect l="l" t="t" r="r" b="b"/>
              <a:pathLst>
                <a:path w="965178" h="993886">
                  <a:moveTo>
                    <a:pt x="28582" y="0"/>
                  </a:moveTo>
                  <a:lnTo>
                    <a:pt x="936596" y="0"/>
                  </a:lnTo>
                  <a:cubicBezTo>
                    <a:pt x="944176" y="0"/>
                    <a:pt x="951446" y="3011"/>
                    <a:pt x="956806" y="8371"/>
                  </a:cubicBezTo>
                  <a:cubicBezTo>
                    <a:pt x="962166" y="13732"/>
                    <a:pt x="965178" y="21002"/>
                    <a:pt x="965178" y="28582"/>
                  </a:cubicBezTo>
                  <a:lnTo>
                    <a:pt x="965178" y="965303"/>
                  </a:lnTo>
                  <a:cubicBezTo>
                    <a:pt x="965178" y="972884"/>
                    <a:pt x="962166" y="980154"/>
                    <a:pt x="956806" y="985514"/>
                  </a:cubicBezTo>
                  <a:cubicBezTo>
                    <a:pt x="951446" y="990874"/>
                    <a:pt x="944176" y="993886"/>
                    <a:pt x="936596" y="993886"/>
                  </a:cubicBezTo>
                  <a:lnTo>
                    <a:pt x="28582" y="993886"/>
                  </a:lnTo>
                  <a:cubicBezTo>
                    <a:pt x="21002" y="993886"/>
                    <a:pt x="13732" y="990874"/>
                    <a:pt x="8371" y="985514"/>
                  </a:cubicBezTo>
                  <a:cubicBezTo>
                    <a:pt x="3011" y="980154"/>
                    <a:pt x="0" y="972884"/>
                    <a:pt x="0" y="965303"/>
                  </a:cubicBezTo>
                  <a:lnTo>
                    <a:pt x="0" y="28582"/>
                  </a:lnTo>
                  <a:cubicBezTo>
                    <a:pt x="0" y="21002"/>
                    <a:pt x="3011" y="13732"/>
                    <a:pt x="8371" y="8371"/>
                  </a:cubicBezTo>
                  <a:cubicBezTo>
                    <a:pt x="13732" y="3011"/>
                    <a:pt x="21002" y="0"/>
                    <a:pt x="28582" y="0"/>
                  </a:cubicBezTo>
                  <a:close/>
                </a:path>
              </a:pathLst>
            </a:custGeom>
            <a:blipFill>
              <a:blip r:embed="rId4"/>
              <a:stretch>
                <a:fillRect l="-13095" r="-13095"/>
              </a:stretch>
            </a:blipFill>
            <a:ln w="228600" cap="rnd">
              <a:solidFill>
                <a:srgbClr val="FFFFFF"/>
              </a:solidFill>
              <a:prstDash val="solid"/>
              <a:round/>
            </a:ln>
          </p:spPr>
        </p:sp>
      </p:grpSp>
      <p:grpSp>
        <p:nvGrpSpPr>
          <p:cNvPr id="9" name="Group 9"/>
          <p:cNvGrpSpPr>
            <a:grpSpLocks noChangeAspect="1"/>
          </p:cNvGrpSpPr>
          <p:nvPr/>
        </p:nvGrpSpPr>
        <p:grpSpPr>
          <a:xfrm>
            <a:off x="9923066" y="4684271"/>
            <a:ext cx="4243610" cy="4385648"/>
            <a:chOff x="0" y="0"/>
            <a:chExt cx="6362700" cy="6575666"/>
          </a:xfrm>
        </p:grpSpPr>
        <p:sp>
          <p:nvSpPr>
            <p:cNvPr id="10" name="Freeform 10"/>
            <p:cNvSpPr/>
            <p:nvPr/>
          </p:nvSpPr>
          <p:spPr>
            <a:xfrm>
              <a:off x="6350" y="6350"/>
              <a:ext cx="6350012" cy="6562979"/>
            </a:xfrm>
            <a:custGeom>
              <a:avLst/>
              <a:gdLst/>
              <a:ahLst/>
              <a:cxnLst/>
              <a:rect l="l" t="t" r="r" b="b"/>
              <a:pathLst>
                <a:path w="6350012" h="6562979">
                  <a:moveTo>
                    <a:pt x="6350000" y="5480583"/>
                  </a:moveTo>
                  <a:cubicBezTo>
                    <a:pt x="6350000" y="6078372"/>
                    <a:pt x="5865419" y="6562979"/>
                    <a:pt x="5267617" y="6562979"/>
                  </a:cubicBezTo>
                  <a:lnTo>
                    <a:pt x="1082383" y="6562979"/>
                  </a:lnTo>
                  <a:cubicBezTo>
                    <a:pt x="484594" y="6562979"/>
                    <a:pt x="0" y="6078385"/>
                    <a:pt x="0" y="5480583"/>
                  </a:cubicBezTo>
                  <a:lnTo>
                    <a:pt x="0" y="1082383"/>
                  </a:lnTo>
                  <a:cubicBezTo>
                    <a:pt x="0" y="484594"/>
                    <a:pt x="484581" y="0"/>
                    <a:pt x="1082383" y="0"/>
                  </a:cubicBezTo>
                  <a:lnTo>
                    <a:pt x="5267630" y="0"/>
                  </a:lnTo>
                  <a:cubicBezTo>
                    <a:pt x="5865419" y="0"/>
                    <a:pt x="6350012" y="484594"/>
                    <a:pt x="6350012" y="1082383"/>
                  </a:cubicBezTo>
                  <a:lnTo>
                    <a:pt x="6350012" y="5480583"/>
                  </a:lnTo>
                  <a:close/>
                </a:path>
              </a:pathLst>
            </a:custGeom>
            <a:blipFill>
              <a:blip r:embed="rId5"/>
              <a:stretch>
                <a:fillRect l="-42074" r="-42074"/>
              </a:stretch>
            </a:blipFill>
          </p:spPr>
        </p:sp>
      </p:grpSp>
      <p:grpSp>
        <p:nvGrpSpPr>
          <p:cNvPr id="11" name="Group 11"/>
          <p:cNvGrpSpPr/>
          <p:nvPr/>
        </p:nvGrpSpPr>
        <p:grpSpPr>
          <a:xfrm>
            <a:off x="9923066" y="4495940"/>
            <a:ext cx="4606890" cy="4762360"/>
            <a:chOff x="0" y="0"/>
            <a:chExt cx="713728" cy="737814"/>
          </a:xfrm>
        </p:grpSpPr>
        <p:sp>
          <p:nvSpPr>
            <p:cNvPr id="12" name="Freeform 12"/>
            <p:cNvSpPr/>
            <p:nvPr/>
          </p:nvSpPr>
          <p:spPr>
            <a:xfrm>
              <a:off x="0" y="0"/>
              <a:ext cx="713728" cy="737814"/>
            </a:xfrm>
            <a:custGeom>
              <a:avLst/>
              <a:gdLst/>
              <a:ahLst/>
              <a:cxnLst/>
              <a:rect l="l" t="t" r="r" b="b"/>
              <a:pathLst>
                <a:path w="713728" h="737814">
                  <a:moveTo>
                    <a:pt x="38652" y="0"/>
                  </a:moveTo>
                  <a:lnTo>
                    <a:pt x="675076" y="0"/>
                  </a:lnTo>
                  <a:cubicBezTo>
                    <a:pt x="685327" y="0"/>
                    <a:pt x="695158" y="4072"/>
                    <a:pt x="702407" y="11321"/>
                  </a:cubicBezTo>
                  <a:cubicBezTo>
                    <a:pt x="709656" y="18569"/>
                    <a:pt x="713728" y="28401"/>
                    <a:pt x="713728" y="38652"/>
                  </a:cubicBezTo>
                  <a:lnTo>
                    <a:pt x="713728" y="699162"/>
                  </a:lnTo>
                  <a:cubicBezTo>
                    <a:pt x="713728" y="709413"/>
                    <a:pt x="709656" y="719245"/>
                    <a:pt x="702407" y="726493"/>
                  </a:cubicBezTo>
                  <a:cubicBezTo>
                    <a:pt x="695158" y="733742"/>
                    <a:pt x="685327" y="737814"/>
                    <a:pt x="675076" y="737814"/>
                  </a:cubicBezTo>
                  <a:lnTo>
                    <a:pt x="38652" y="737814"/>
                  </a:lnTo>
                  <a:cubicBezTo>
                    <a:pt x="17305" y="737814"/>
                    <a:pt x="0" y="720509"/>
                    <a:pt x="0" y="699162"/>
                  </a:cubicBezTo>
                  <a:lnTo>
                    <a:pt x="0" y="38652"/>
                  </a:lnTo>
                  <a:cubicBezTo>
                    <a:pt x="0" y="28401"/>
                    <a:pt x="4072" y="18569"/>
                    <a:pt x="11321" y="11321"/>
                  </a:cubicBezTo>
                  <a:cubicBezTo>
                    <a:pt x="18569" y="4072"/>
                    <a:pt x="28401" y="0"/>
                    <a:pt x="38652" y="0"/>
                  </a:cubicBezTo>
                  <a:close/>
                </a:path>
              </a:pathLst>
            </a:custGeom>
            <a:blipFill>
              <a:blip r:embed="rId6"/>
              <a:stretch>
                <a:fillRect l="-626" r="-626"/>
              </a:stretch>
            </a:blipFill>
            <a:ln w="238125" cap="rnd">
              <a:solidFill>
                <a:srgbClr val="FFFFFF"/>
              </a:solidFill>
              <a:prstDash val="solid"/>
              <a:round/>
            </a:ln>
          </p:spPr>
        </p:sp>
      </p:grpSp>
      <p:grpSp>
        <p:nvGrpSpPr>
          <p:cNvPr id="13" name="Group 13"/>
          <p:cNvGrpSpPr/>
          <p:nvPr/>
        </p:nvGrpSpPr>
        <p:grpSpPr>
          <a:xfrm>
            <a:off x="1432933" y="3610817"/>
            <a:ext cx="721810" cy="181928"/>
            <a:chOff x="0" y="0"/>
            <a:chExt cx="962414" cy="242570"/>
          </a:xfrm>
        </p:grpSpPr>
        <p:grpSp>
          <p:nvGrpSpPr>
            <p:cNvPr id="14" name="Group 14"/>
            <p:cNvGrpSpPr/>
            <p:nvPr/>
          </p:nvGrpSpPr>
          <p:grpSpPr>
            <a:xfrm>
              <a:off x="0" y="0"/>
              <a:ext cx="242570" cy="242570"/>
              <a:chOff x="0" y="0"/>
              <a:chExt cx="130677" cy="130677"/>
            </a:xfrm>
          </p:grpSpPr>
          <p:sp>
            <p:nvSpPr>
              <p:cNvPr id="15" name="Freeform 15"/>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6" name="TextBox 16"/>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7" name="Group 17"/>
            <p:cNvGrpSpPr/>
            <p:nvPr/>
          </p:nvGrpSpPr>
          <p:grpSpPr>
            <a:xfrm>
              <a:off x="356870" y="0"/>
              <a:ext cx="242570" cy="242570"/>
              <a:chOff x="0" y="0"/>
              <a:chExt cx="130677" cy="130677"/>
            </a:xfrm>
          </p:grpSpPr>
          <p:sp>
            <p:nvSpPr>
              <p:cNvPr id="18" name="Freeform 1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9" name="TextBox 1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0" name="Group 20"/>
            <p:cNvGrpSpPr/>
            <p:nvPr/>
          </p:nvGrpSpPr>
          <p:grpSpPr>
            <a:xfrm>
              <a:off x="719844" y="0"/>
              <a:ext cx="242570" cy="242570"/>
              <a:chOff x="0" y="0"/>
              <a:chExt cx="130677" cy="130677"/>
            </a:xfrm>
          </p:grpSpPr>
          <p:sp>
            <p:nvSpPr>
              <p:cNvPr id="21" name="Freeform 21"/>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2" name="TextBox 22"/>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3" name="Freeform 23"/>
          <p:cNvSpPr/>
          <p:nvPr/>
        </p:nvSpPr>
        <p:spPr>
          <a:xfrm>
            <a:off x="361077" y="361077"/>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4"/>
          <p:cNvSpPr/>
          <p:nvPr/>
        </p:nvSpPr>
        <p:spPr>
          <a:xfrm rot="2040788">
            <a:off x="16852152" y="8659240"/>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9">
              <a:alphaModFix amt="50000"/>
              <a:extLst>
                <a:ext uri="{96DAC541-7B7A-43D3-8B79-37D633B846F1}">
                  <asvg:svgBlip xmlns:asvg="http://schemas.microsoft.com/office/drawing/2016/SVG/main" r:embed="rId10"/>
                </a:ext>
              </a:extLst>
            </a:blip>
            <a:stretch>
              <a:fillRect/>
            </a:stretch>
          </a:blipFill>
        </p:spPr>
      </p:sp>
      <p:sp>
        <p:nvSpPr>
          <p:cNvPr id="25" name="TextBox 25"/>
          <p:cNvSpPr txBox="1"/>
          <p:nvPr/>
        </p:nvSpPr>
        <p:spPr>
          <a:xfrm>
            <a:off x="2095410" y="5489945"/>
            <a:ext cx="6395797" cy="752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Placer l'excellence scientifique, l'éthique et la transparence au cœur de tout ce que nous faisons.</a:t>
            </a:r>
          </a:p>
        </p:txBody>
      </p:sp>
      <p:sp>
        <p:nvSpPr>
          <p:cNvPr id="26" name="TextBox 26"/>
          <p:cNvSpPr txBox="1"/>
          <p:nvPr/>
        </p:nvSpPr>
        <p:spPr>
          <a:xfrm>
            <a:off x="1969137" y="7936445"/>
            <a:ext cx="6395797" cy="1133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Être le partenaire de référence pour les études cliniques en Algérie et développer une présence internationale par le biais de partenariats régionaux.</a:t>
            </a:r>
          </a:p>
        </p:txBody>
      </p:sp>
      <p:sp>
        <p:nvSpPr>
          <p:cNvPr id="27" name="TextBox 27"/>
          <p:cNvSpPr txBox="1"/>
          <p:nvPr/>
        </p:nvSpPr>
        <p:spPr>
          <a:xfrm>
            <a:off x="2095410" y="4902570"/>
            <a:ext cx="8229689" cy="320675"/>
          </a:xfrm>
          <a:prstGeom prst="rect">
            <a:avLst/>
          </a:prstGeom>
        </p:spPr>
        <p:txBody>
          <a:bodyPr lIns="0" tIns="0" rIns="0" bIns="0" rtlCol="0" anchor="t">
            <a:spAutoFit/>
          </a:bodyPr>
          <a:lstStyle/>
          <a:p>
            <a:pPr algn="l">
              <a:lnSpc>
                <a:spcPts val="2499"/>
              </a:lnSpc>
            </a:pPr>
            <a:r>
              <a:rPr lang="en-US" sz="2499" b="1">
                <a:solidFill>
                  <a:srgbClr val="50298E"/>
                </a:solidFill>
                <a:latin typeface="Libre Franklin Semi-Bold"/>
                <a:ea typeface="Libre Franklin Semi-Bold"/>
                <a:cs typeface="Libre Franklin Semi-Bold"/>
                <a:sym typeface="Libre Franklin Semi-Bold"/>
              </a:rPr>
              <a:t>Mission fondée sur l'excellence et l'éthique</a:t>
            </a:r>
          </a:p>
        </p:txBody>
      </p:sp>
      <p:sp>
        <p:nvSpPr>
          <p:cNvPr id="28" name="TextBox 28"/>
          <p:cNvSpPr txBox="1"/>
          <p:nvPr/>
        </p:nvSpPr>
        <p:spPr>
          <a:xfrm>
            <a:off x="1969137" y="7256995"/>
            <a:ext cx="6244201" cy="412750"/>
          </a:xfrm>
          <a:prstGeom prst="rect">
            <a:avLst/>
          </a:prstGeom>
        </p:spPr>
        <p:txBody>
          <a:bodyPr lIns="0" tIns="0" rIns="0" bIns="0" rtlCol="0" anchor="t">
            <a:spAutoFit/>
          </a:bodyPr>
          <a:lstStyle/>
          <a:p>
            <a:pPr algn="l">
              <a:lnSpc>
                <a:spcPts val="3499"/>
              </a:lnSpc>
            </a:pPr>
            <a:r>
              <a:rPr lang="en-US" sz="2499" b="1">
                <a:solidFill>
                  <a:srgbClr val="50298E"/>
                </a:solidFill>
                <a:latin typeface="Libre Franklin Semi-Bold"/>
                <a:ea typeface="Libre Franklin Semi-Bold"/>
                <a:cs typeface="Libre Franklin Semi-Bold"/>
                <a:sym typeface="Libre Franklin Semi-Bold"/>
              </a:rPr>
              <a:t>Vision Stratégique pour la Région MENA</a:t>
            </a:r>
          </a:p>
        </p:txBody>
      </p:sp>
      <p:sp>
        <p:nvSpPr>
          <p:cNvPr id="29" name="TextBox 29"/>
          <p:cNvSpPr txBox="1"/>
          <p:nvPr/>
        </p:nvSpPr>
        <p:spPr>
          <a:xfrm>
            <a:off x="1432933" y="2195505"/>
            <a:ext cx="6529396" cy="967105"/>
          </a:xfrm>
          <a:prstGeom prst="rect">
            <a:avLst/>
          </a:prstGeom>
        </p:spPr>
        <p:txBody>
          <a:bodyPr lIns="0" tIns="0" rIns="0" bIns="0" rtlCol="0" anchor="t">
            <a:spAutoFit/>
          </a:bodyPr>
          <a:lstStyle/>
          <a:p>
            <a:pPr marL="0" lvl="0" indent="0" algn="just">
              <a:lnSpc>
                <a:spcPts val="6359"/>
              </a:lnSpc>
              <a:spcBef>
                <a:spcPct val="0"/>
              </a:spcBef>
            </a:pPr>
            <a:r>
              <a:rPr lang="en-US" sz="5999" b="1" u="none" strike="noStrike">
                <a:solidFill>
                  <a:srgbClr val="50298E"/>
                </a:solidFill>
                <a:latin typeface="Akzidenz-Grotesk Medium"/>
                <a:ea typeface="Akzidenz-Grotesk Medium"/>
                <a:cs typeface="Akzidenz-Grotesk Medium"/>
                <a:sym typeface="Akzidenz-Grotesk Medium"/>
              </a:rPr>
              <a:t>Mission &amp; Vision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46189" y="6678981"/>
            <a:ext cx="3627743" cy="2826070"/>
            <a:chOff x="0" y="0"/>
            <a:chExt cx="1167517" cy="909515"/>
          </a:xfrm>
        </p:grpSpPr>
        <p:sp>
          <p:nvSpPr>
            <p:cNvPr id="3" name="Freeform 3"/>
            <p:cNvSpPr/>
            <p:nvPr/>
          </p:nvSpPr>
          <p:spPr>
            <a:xfrm>
              <a:off x="0" y="0"/>
              <a:ext cx="1167517" cy="909515"/>
            </a:xfrm>
            <a:custGeom>
              <a:avLst/>
              <a:gdLst/>
              <a:ahLst/>
              <a:cxnLst/>
              <a:rect l="l" t="t" r="r" b="b"/>
              <a:pathLst>
                <a:path w="1167517" h="909515">
                  <a:moveTo>
                    <a:pt x="40548" y="0"/>
                  </a:moveTo>
                  <a:lnTo>
                    <a:pt x="1126969" y="0"/>
                  </a:lnTo>
                  <a:cubicBezTo>
                    <a:pt x="1137723" y="0"/>
                    <a:pt x="1148037" y="4272"/>
                    <a:pt x="1155641" y="11876"/>
                  </a:cubicBezTo>
                  <a:cubicBezTo>
                    <a:pt x="1163245" y="19480"/>
                    <a:pt x="1167517" y="29794"/>
                    <a:pt x="1167517" y="40548"/>
                  </a:cubicBezTo>
                  <a:lnTo>
                    <a:pt x="1167517" y="868967"/>
                  </a:lnTo>
                  <a:cubicBezTo>
                    <a:pt x="1167517" y="891361"/>
                    <a:pt x="1149363" y="909515"/>
                    <a:pt x="1126969" y="909515"/>
                  </a:cubicBezTo>
                  <a:lnTo>
                    <a:pt x="40548" y="909515"/>
                  </a:lnTo>
                  <a:cubicBezTo>
                    <a:pt x="18154" y="909515"/>
                    <a:pt x="0" y="891361"/>
                    <a:pt x="0" y="868967"/>
                  </a:cubicBezTo>
                  <a:lnTo>
                    <a:pt x="0" y="40548"/>
                  </a:lnTo>
                  <a:cubicBezTo>
                    <a:pt x="0" y="18154"/>
                    <a:pt x="18154" y="0"/>
                    <a:pt x="40548" y="0"/>
                  </a:cubicBezTo>
                  <a:close/>
                </a:path>
              </a:pathLst>
            </a:custGeom>
            <a:solidFill>
              <a:srgbClr val="7F2191"/>
            </a:solidFill>
          </p:spPr>
        </p:sp>
        <p:sp>
          <p:nvSpPr>
            <p:cNvPr id="4" name="TextBox 4"/>
            <p:cNvSpPr txBox="1"/>
            <p:nvPr/>
          </p:nvSpPr>
          <p:spPr>
            <a:xfrm>
              <a:off x="0" y="-9525"/>
              <a:ext cx="1167517" cy="919040"/>
            </a:xfrm>
            <a:prstGeom prst="rect">
              <a:avLst/>
            </a:prstGeom>
          </p:spPr>
          <p:txBody>
            <a:bodyPr lIns="41573" tIns="41573" rIns="41573" bIns="41573" rtlCol="0" anchor="ctr"/>
            <a:lstStyle/>
            <a:p>
              <a:pPr algn="ctr">
                <a:lnSpc>
                  <a:spcPts val="2220"/>
                </a:lnSpc>
              </a:pPr>
              <a:endParaRPr/>
            </a:p>
          </p:txBody>
        </p:sp>
      </p:grpSp>
      <p:grpSp>
        <p:nvGrpSpPr>
          <p:cNvPr id="5" name="Group 5"/>
          <p:cNvGrpSpPr/>
          <p:nvPr/>
        </p:nvGrpSpPr>
        <p:grpSpPr>
          <a:xfrm>
            <a:off x="11551914" y="5421149"/>
            <a:ext cx="2616293" cy="2616282"/>
            <a:chOff x="0" y="0"/>
            <a:chExt cx="6350000" cy="6349975"/>
          </a:xfrm>
        </p:grpSpPr>
        <p:sp>
          <p:nvSpPr>
            <p:cNvPr id="6" name="Freeform 6"/>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7217" r="-42599"/>
              </a:stretch>
            </a:blipFill>
            <a:ln w="95250" cap="sq">
              <a:solidFill>
                <a:srgbClr val="FFFFFF"/>
              </a:solidFill>
              <a:prstDash val="solid"/>
              <a:miter/>
            </a:ln>
          </p:spPr>
        </p:sp>
      </p:grpSp>
      <p:grpSp>
        <p:nvGrpSpPr>
          <p:cNvPr id="7" name="Group 7"/>
          <p:cNvGrpSpPr/>
          <p:nvPr/>
        </p:nvGrpSpPr>
        <p:grpSpPr>
          <a:xfrm>
            <a:off x="8737280" y="677901"/>
            <a:ext cx="3627743" cy="4083902"/>
            <a:chOff x="0" y="0"/>
            <a:chExt cx="4836990" cy="5445202"/>
          </a:xfrm>
        </p:grpSpPr>
        <p:grpSp>
          <p:nvGrpSpPr>
            <p:cNvPr id="8" name="Group 8"/>
            <p:cNvGrpSpPr/>
            <p:nvPr/>
          </p:nvGrpSpPr>
          <p:grpSpPr>
            <a:xfrm>
              <a:off x="0" y="1677108"/>
              <a:ext cx="4836990" cy="3768094"/>
              <a:chOff x="0" y="0"/>
              <a:chExt cx="1167517" cy="909515"/>
            </a:xfrm>
          </p:grpSpPr>
          <p:sp>
            <p:nvSpPr>
              <p:cNvPr id="9" name="Freeform 9"/>
              <p:cNvSpPr/>
              <p:nvPr/>
            </p:nvSpPr>
            <p:spPr>
              <a:xfrm>
                <a:off x="0" y="0"/>
                <a:ext cx="1167517" cy="909515"/>
              </a:xfrm>
              <a:custGeom>
                <a:avLst/>
                <a:gdLst/>
                <a:ahLst/>
                <a:cxnLst/>
                <a:rect l="l" t="t" r="r" b="b"/>
                <a:pathLst>
                  <a:path w="1167517" h="909515">
                    <a:moveTo>
                      <a:pt x="40548" y="0"/>
                    </a:moveTo>
                    <a:lnTo>
                      <a:pt x="1126969" y="0"/>
                    </a:lnTo>
                    <a:cubicBezTo>
                      <a:pt x="1137723" y="0"/>
                      <a:pt x="1148037" y="4272"/>
                      <a:pt x="1155641" y="11876"/>
                    </a:cubicBezTo>
                    <a:cubicBezTo>
                      <a:pt x="1163245" y="19480"/>
                      <a:pt x="1167517" y="29794"/>
                      <a:pt x="1167517" y="40548"/>
                    </a:cubicBezTo>
                    <a:lnTo>
                      <a:pt x="1167517" y="868967"/>
                    </a:lnTo>
                    <a:cubicBezTo>
                      <a:pt x="1167517" y="891361"/>
                      <a:pt x="1149363" y="909515"/>
                      <a:pt x="1126969" y="909515"/>
                    </a:cubicBezTo>
                    <a:lnTo>
                      <a:pt x="40548" y="909515"/>
                    </a:lnTo>
                    <a:cubicBezTo>
                      <a:pt x="18154" y="909515"/>
                      <a:pt x="0" y="891361"/>
                      <a:pt x="0" y="868967"/>
                    </a:cubicBezTo>
                    <a:lnTo>
                      <a:pt x="0" y="40548"/>
                    </a:lnTo>
                    <a:cubicBezTo>
                      <a:pt x="0" y="18154"/>
                      <a:pt x="18154" y="0"/>
                      <a:pt x="40548" y="0"/>
                    </a:cubicBezTo>
                    <a:close/>
                  </a:path>
                </a:pathLst>
              </a:custGeom>
              <a:solidFill>
                <a:srgbClr val="7F2191"/>
              </a:solidFill>
            </p:spPr>
          </p:sp>
          <p:sp>
            <p:nvSpPr>
              <p:cNvPr id="10" name="TextBox 10"/>
              <p:cNvSpPr txBox="1"/>
              <p:nvPr/>
            </p:nvSpPr>
            <p:spPr>
              <a:xfrm>
                <a:off x="0" y="-9525"/>
                <a:ext cx="1167517" cy="919040"/>
              </a:xfrm>
              <a:prstGeom prst="rect">
                <a:avLst/>
              </a:prstGeom>
            </p:spPr>
            <p:txBody>
              <a:bodyPr lIns="41573" tIns="41573" rIns="41573" bIns="41573" rtlCol="0" anchor="ctr"/>
              <a:lstStyle/>
              <a:p>
                <a:pPr algn="ctr">
                  <a:lnSpc>
                    <a:spcPts val="2220"/>
                  </a:lnSpc>
                </a:pPr>
                <a:endParaRPr/>
              </a:p>
            </p:txBody>
          </p:sp>
        </p:grpSp>
        <p:grpSp>
          <p:nvGrpSpPr>
            <p:cNvPr id="11" name="Group 11"/>
            <p:cNvGrpSpPr/>
            <p:nvPr/>
          </p:nvGrpSpPr>
          <p:grpSpPr>
            <a:xfrm>
              <a:off x="674300" y="0"/>
              <a:ext cx="3488391" cy="3488377"/>
              <a:chOff x="0" y="0"/>
              <a:chExt cx="6350000" cy="6349975"/>
            </a:xfrm>
          </p:grpSpPr>
          <p:sp>
            <p:nvSpPr>
              <p:cNvPr id="12" name="Freeform 12"/>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a:stretch>
              </a:blipFill>
              <a:ln w="95250" cap="sq">
                <a:solidFill>
                  <a:srgbClr val="FFFFFF"/>
                </a:solidFill>
                <a:prstDash val="solid"/>
                <a:miter/>
              </a:ln>
            </p:spPr>
          </p:sp>
        </p:grpSp>
        <p:sp>
          <p:nvSpPr>
            <p:cNvPr id="13" name="TextBox 13"/>
            <p:cNvSpPr txBox="1"/>
            <p:nvPr/>
          </p:nvSpPr>
          <p:spPr>
            <a:xfrm>
              <a:off x="36779" y="3692212"/>
              <a:ext cx="4763432" cy="449791"/>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Libre Franklin Semi-Bold"/>
                  <a:ea typeface="Libre Franklin Semi-Bold"/>
                  <a:cs typeface="Libre Franklin Semi-Bold"/>
                  <a:sym typeface="Libre Franklin Semi-Bold"/>
                </a:rPr>
                <a:t>M.Fayçal CHALAL </a:t>
              </a:r>
            </a:p>
          </p:txBody>
        </p:sp>
        <p:sp>
          <p:nvSpPr>
            <p:cNvPr id="14" name="TextBox 14"/>
            <p:cNvSpPr txBox="1"/>
            <p:nvPr/>
          </p:nvSpPr>
          <p:spPr>
            <a:xfrm>
              <a:off x="36779" y="4293390"/>
              <a:ext cx="4763432" cy="352212"/>
            </a:xfrm>
            <a:prstGeom prst="rect">
              <a:avLst/>
            </a:prstGeom>
          </p:spPr>
          <p:txBody>
            <a:bodyPr lIns="0" tIns="0" rIns="0" bIns="0" rtlCol="0" anchor="t">
              <a:spAutoFit/>
            </a:bodyPr>
            <a:lstStyle/>
            <a:p>
              <a:pPr algn="ctr">
                <a:lnSpc>
                  <a:spcPts val="2240"/>
                </a:lnSpc>
              </a:pPr>
              <a:r>
                <a:rPr lang="en-US" sz="1600">
                  <a:solidFill>
                    <a:srgbClr val="FFFFFF"/>
                  </a:solidFill>
                  <a:latin typeface="Libre Franklin"/>
                  <a:ea typeface="Libre Franklin"/>
                  <a:cs typeface="Libre Franklin"/>
                  <a:sym typeface="Libre Franklin"/>
                </a:rPr>
                <a:t>Fondateur | PDG</a:t>
              </a:r>
            </a:p>
          </p:txBody>
        </p:sp>
      </p:grpSp>
      <p:grpSp>
        <p:nvGrpSpPr>
          <p:cNvPr id="15" name="Group 15"/>
          <p:cNvGrpSpPr/>
          <p:nvPr/>
        </p:nvGrpSpPr>
        <p:grpSpPr>
          <a:xfrm>
            <a:off x="6256396" y="6678981"/>
            <a:ext cx="3627743" cy="2826070"/>
            <a:chOff x="0" y="0"/>
            <a:chExt cx="1167517" cy="909515"/>
          </a:xfrm>
        </p:grpSpPr>
        <p:sp>
          <p:nvSpPr>
            <p:cNvPr id="16" name="Freeform 16"/>
            <p:cNvSpPr/>
            <p:nvPr/>
          </p:nvSpPr>
          <p:spPr>
            <a:xfrm>
              <a:off x="0" y="0"/>
              <a:ext cx="1167517" cy="909515"/>
            </a:xfrm>
            <a:custGeom>
              <a:avLst/>
              <a:gdLst/>
              <a:ahLst/>
              <a:cxnLst/>
              <a:rect l="l" t="t" r="r" b="b"/>
              <a:pathLst>
                <a:path w="1167517" h="909515">
                  <a:moveTo>
                    <a:pt x="40548" y="0"/>
                  </a:moveTo>
                  <a:lnTo>
                    <a:pt x="1126969" y="0"/>
                  </a:lnTo>
                  <a:cubicBezTo>
                    <a:pt x="1137723" y="0"/>
                    <a:pt x="1148037" y="4272"/>
                    <a:pt x="1155641" y="11876"/>
                  </a:cubicBezTo>
                  <a:cubicBezTo>
                    <a:pt x="1163245" y="19480"/>
                    <a:pt x="1167517" y="29794"/>
                    <a:pt x="1167517" y="40548"/>
                  </a:cubicBezTo>
                  <a:lnTo>
                    <a:pt x="1167517" y="868967"/>
                  </a:lnTo>
                  <a:cubicBezTo>
                    <a:pt x="1167517" y="891361"/>
                    <a:pt x="1149363" y="909515"/>
                    <a:pt x="1126969" y="909515"/>
                  </a:cubicBezTo>
                  <a:lnTo>
                    <a:pt x="40548" y="909515"/>
                  </a:lnTo>
                  <a:cubicBezTo>
                    <a:pt x="18154" y="909515"/>
                    <a:pt x="0" y="891361"/>
                    <a:pt x="0" y="868967"/>
                  </a:cubicBezTo>
                  <a:lnTo>
                    <a:pt x="0" y="40548"/>
                  </a:lnTo>
                  <a:cubicBezTo>
                    <a:pt x="0" y="18154"/>
                    <a:pt x="18154" y="0"/>
                    <a:pt x="40548" y="0"/>
                  </a:cubicBezTo>
                  <a:close/>
                </a:path>
              </a:pathLst>
            </a:custGeom>
            <a:solidFill>
              <a:srgbClr val="7F2191"/>
            </a:solidFill>
          </p:spPr>
        </p:sp>
        <p:sp>
          <p:nvSpPr>
            <p:cNvPr id="17" name="TextBox 17"/>
            <p:cNvSpPr txBox="1"/>
            <p:nvPr/>
          </p:nvSpPr>
          <p:spPr>
            <a:xfrm>
              <a:off x="0" y="-9525"/>
              <a:ext cx="1167517" cy="919040"/>
            </a:xfrm>
            <a:prstGeom prst="rect">
              <a:avLst/>
            </a:prstGeom>
          </p:spPr>
          <p:txBody>
            <a:bodyPr lIns="41573" tIns="41573" rIns="41573" bIns="41573" rtlCol="0" anchor="ctr"/>
            <a:lstStyle/>
            <a:p>
              <a:pPr algn="ctr">
                <a:lnSpc>
                  <a:spcPts val="2220"/>
                </a:lnSpc>
              </a:pPr>
              <a:endParaRPr/>
            </a:p>
          </p:txBody>
        </p:sp>
      </p:grpSp>
      <p:grpSp>
        <p:nvGrpSpPr>
          <p:cNvPr id="18" name="Group 18"/>
          <p:cNvGrpSpPr/>
          <p:nvPr/>
        </p:nvGrpSpPr>
        <p:grpSpPr>
          <a:xfrm>
            <a:off x="6762121" y="5421149"/>
            <a:ext cx="2616293" cy="2616282"/>
            <a:chOff x="0" y="0"/>
            <a:chExt cx="6350000" cy="6349975"/>
          </a:xfrm>
        </p:grpSpPr>
        <p:sp>
          <p:nvSpPr>
            <p:cNvPr id="19" name="Freeform 19"/>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13549" r="-13549"/>
              </a:stretch>
            </a:blipFill>
            <a:ln w="95250" cap="sq">
              <a:solidFill>
                <a:srgbClr val="FFFFFF"/>
              </a:solidFill>
              <a:prstDash val="solid"/>
              <a:miter/>
            </a:ln>
          </p:spPr>
        </p:sp>
      </p:grpSp>
      <p:grpSp>
        <p:nvGrpSpPr>
          <p:cNvPr id="20" name="Group 20"/>
          <p:cNvGrpSpPr/>
          <p:nvPr/>
        </p:nvGrpSpPr>
        <p:grpSpPr>
          <a:xfrm>
            <a:off x="13650607" y="677901"/>
            <a:ext cx="3627743" cy="4083902"/>
            <a:chOff x="0" y="0"/>
            <a:chExt cx="4836990" cy="5445202"/>
          </a:xfrm>
        </p:grpSpPr>
        <p:grpSp>
          <p:nvGrpSpPr>
            <p:cNvPr id="21" name="Group 21"/>
            <p:cNvGrpSpPr/>
            <p:nvPr/>
          </p:nvGrpSpPr>
          <p:grpSpPr>
            <a:xfrm>
              <a:off x="0" y="1677108"/>
              <a:ext cx="4836990" cy="3768094"/>
              <a:chOff x="0" y="0"/>
              <a:chExt cx="1167517" cy="909515"/>
            </a:xfrm>
          </p:grpSpPr>
          <p:sp>
            <p:nvSpPr>
              <p:cNvPr id="22" name="Freeform 22"/>
              <p:cNvSpPr/>
              <p:nvPr/>
            </p:nvSpPr>
            <p:spPr>
              <a:xfrm>
                <a:off x="0" y="0"/>
                <a:ext cx="1167517" cy="909515"/>
              </a:xfrm>
              <a:custGeom>
                <a:avLst/>
                <a:gdLst/>
                <a:ahLst/>
                <a:cxnLst/>
                <a:rect l="l" t="t" r="r" b="b"/>
                <a:pathLst>
                  <a:path w="1167517" h="909515">
                    <a:moveTo>
                      <a:pt x="40548" y="0"/>
                    </a:moveTo>
                    <a:lnTo>
                      <a:pt x="1126969" y="0"/>
                    </a:lnTo>
                    <a:cubicBezTo>
                      <a:pt x="1137723" y="0"/>
                      <a:pt x="1148037" y="4272"/>
                      <a:pt x="1155641" y="11876"/>
                    </a:cubicBezTo>
                    <a:cubicBezTo>
                      <a:pt x="1163245" y="19480"/>
                      <a:pt x="1167517" y="29794"/>
                      <a:pt x="1167517" y="40548"/>
                    </a:cubicBezTo>
                    <a:lnTo>
                      <a:pt x="1167517" y="868967"/>
                    </a:lnTo>
                    <a:cubicBezTo>
                      <a:pt x="1167517" y="891361"/>
                      <a:pt x="1149363" y="909515"/>
                      <a:pt x="1126969" y="909515"/>
                    </a:cubicBezTo>
                    <a:lnTo>
                      <a:pt x="40548" y="909515"/>
                    </a:lnTo>
                    <a:cubicBezTo>
                      <a:pt x="18154" y="909515"/>
                      <a:pt x="0" y="891361"/>
                      <a:pt x="0" y="868967"/>
                    </a:cubicBezTo>
                    <a:lnTo>
                      <a:pt x="0" y="40548"/>
                    </a:lnTo>
                    <a:cubicBezTo>
                      <a:pt x="0" y="18154"/>
                      <a:pt x="18154" y="0"/>
                      <a:pt x="40548" y="0"/>
                    </a:cubicBezTo>
                    <a:close/>
                  </a:path>
                </a:pathLst>
              </a:custGeom>
              <a:solidFill>
                <a:srgbClr val="7F2191"/>
              </a:solidFill>
            </p:spPr>
          </p:sp>
          <p:sp>
            <p:nvSpPr>
              <p:cNvPr id="23" name="TextBox 23"/>
              <p:cNvSpPr txBox="1"/>
              <p:nvPr/>
            </p:nvSpPr>
            <p:spPr>
              <a:xfrm>
                <a:off x="0" y="-9525"/>
                <a:ext cx="1167517" cy="919040"/>
              </a:xfrm>
              <a:prstGeom prst="rect">
                <a:avLst/>
              </a:prstGeom>
            </p:spPr>
            <p:txBody>
              <a:bodyPr lIns="41573" tIns="41573" rIns="41573" bIns="41573" rtlCol="0" anchor="ctr"/>
              <a:lstStyle/>
              <a:p>
                <a:pPr algn="ctr">
                  <a:lnSpc>
                    <a:spcPts val="2220"/>
                  </a:lnSpc>
                </a:pPr>
                <a:endParaRPr/>
              </a:p>
            </p:txBody>
          </p:sp>
        </p:grpSp>
        <p:grpSp>
          <p:nvGrpSpPr>
            <p:cNvPr id="24" name="Group 24"/>
            <p:cNvGrpSpPr/>
            <p:nvPr/>
          </p:nvGrpSpPr>
          <p:grpSpPr>
            <a:xfrm>
              <a:off x="674300" y="0"/>
              <a:ext cx="3488391" cy="3488377"/>
              <a:chOff x="0" y="0"/>
              <a:chExt cx="6350000" cy="6349975"/>
            </a:xfrm>
          </p:grpSpPr>
          <p:sp>
            <p:nvSpPr>
              <p:cNvPr id="25" name="Freeform 25"/>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a:stretch>
              </a:blipFill>
              <a:ln w="95250" cap="sq">
                <a:solidFill>
                  <a:srgbClr val="FFFFFF"/>
                </a:solidFill>
                <a:prstDash val="solid"/>
                <a:miter/>
              </a:ln>
            </p:spPr>
          </p:sp>
        </p:grpSp>
        <p:sp>
          <p:nvSpPr>
            <p:cNvPr id="26" name="TextBox 26"/>
            <p:cNvSpPr txBox="1"/>
            <p:nvPr/>
          </p:nvSpPr>
          <p:spPr>
            <a:xfrm>
              <a:off x="36779" y="3692212"/>
              <a:ext cx="4763432" cy="449791"/>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Libre Franklin Semi-Bold"/>
                  <a:ea typeface="Libre Franklin Semi-Bold"/>
                  <a:cs typeface="Libre Franklin Semi-Bold"/>
                  <a:sym typeface="Libre Franklin Semi-Bold"/>
                </a:rPr>
                <a:t>Dr Meriem HEDIBEL </a:t>
              </a:r>
            </a:p>
          </p:txBody>
        </p:sp>
        <p:sp>
          <p:nvSpPr>
            <p:cNvPr id="27" name="TextBox 27"/>
            <p:cNvSpPr txBox="1"/>
            <p:nvPr/>
          </p:nvSpPr>
          <p:spPr>
            <a:xfrm>
              <a:off x="36779" y="4293390"/>
              <a:ext cx="4763432" cy="720512"/>
            </a:xfrm>
            <a:prstGeom prst="rect">
              <a:avLst/>
            </a:prstGeom>
          </p:spPr>
          <p:txBody>
            <a:bodyPr lIns="0" tIns="0" rIns="0" bIns="0" rtlCol="0" anchor="t">
              <a:spAutoFit/>
            </a:bodyPr>
            <a:lstStyle/>
            <a:p>
              <a:pPr algn="ctr">
                <a:lnSpc>
                  <a:spcPts val="2240"/>
                </a:lnSpc>
              </a:pPr>
              <a:r>
                <a:rPr lang="en-US" sz="1600">
                  <a:solidFill>
                    <a:srgbClr val="FFFFFF"/>
                  </a:solidFill>
                  <a:latin typeface="Libre Franklin"/>
                  <a:ea typeface="Libre Franklin"/>
                  <a:cs typeface="Libre Franklin"/>
                  <a:sym typeface="Libre Franklin"/>
                </a:rPr>
                <a:t>Co-Fondatrice | Directrice des Opérations Cliniques</a:t>
              </a:r>
            </a:p>
          </p:txBody>
        </p:sp>
      </p:grpSp>
      <p:grpSp>
        <p:nvGrpSpPr>
          <p:cNvPr id="28" name="Group 28"/>
          <p:cNvGrpSpPr/>
          <p:nvPr/>
        </p:nvGrpSpPr>
        <p:grpSpPr>
          <a:xfrm>
            <a:off x="1467470" y="5421149"/>
            <a:ext cx="3627743" cy="4083902"/>
            <a:chOff x="0" y="0"/>
            <a:chExt cx="4836990" cy="5445202"/>
          </a:xfrm>
        </p:grpSpPr>
        <p:grpSp>
          <p:nvGrpSpPr>
            <p:cNvPr id="29" name="Group 29"/>
            <p:cNvGrpSpPr/>
            <p:nvPr/>
          </p:nvGrpSpPr>
          <p:grpSpPr>
            <a:xfrm>
              <a:off x="0" y="1677108"/>
              <a:ext cx="4836990" cy="3768094"/>
              <a:chOff x="0" y="0"/>
              <a:chExt cx="1167517" cy="909515"/>
            </a:xfrm>
          </p:grpSpPr>
          <p:sp>
            <p:nvSpPr>
              <p:cNvPr id="30" name="Freeform 30"/>
              <p:cNvSpPr/>
              <p:nvPr/>
            </p:nvSpPr>
            <p:spPr>
              <a:xfrm>
                <a:off x="0" y="0"/>
                <a:ext cx="1167517" cy="909515"/>
              </a:xfrm>
              <a:custGeom>
                <a:avLst/>
                <a:gdLst/>
                <a:ahLst/>
                <a:cxnLst/>
                <a:rect l="l" t="t" r="r" b="b"/>
                <a:pathLst>
                  <a:path w="1167517" h="909515">
                    <a:moveTo>
                      <a:pt x="40548" y="0"/>
                    </a:moveTo>
                    <a:lnTo>
                      <a:pt x="1126969" y="0"/>
                    </a:lnTo>
                    <a:cubicBezTo>
                      <a:pt x="1137723" y="0"/>
                      <a:pt x="1148037" y="4272"/>
                      <a:pt x="1155641" y="11876"/>
                    </a:cubicBezTo>
                    <a:cubicBezTo>
                      <a:pt x="1163245" y="19480"/>
                      <a:pt x="1167517" y="29794"/>
                      <a:pt x="1167517" y="40548"/>
                    </a:cubicBezTo>
                    <a:lnTo>
                      <a:pt x="1167517" y="868967"/>
                    </a:lnTo>
                    <a:cubicBezTo>
                      <a:pt x="1167517" y="891361"/>
                      <a:pt x="1149363" y="909515"/>
                      <a:pt x="1126969" y="909515"/>
                    </a:cubicBezTo>
                    <a:lnTo>
                      <a:pt x="40548" y="909515"/>
                    </a:lnTo>
                    <a:cubicBezTo>
                      <a:pt x="18154" y="909515"/>
                      <a:pt x="0" y="891361"/>
                      <a:pt x="0" y="868967"/>
                    </a:cubicBezTo>
                    <a:lnTo>
                      <a:pt x="0" y="40548"/>
                    </a:lnTo>
                    <a:cubicBezTo>
                      <a:pt x="0" y="18154"/>
                      <a:pt x="18154" y="0"/>
                      <a:pt x="40548" y="0"/>
                    </a:cubicBezTo>
                    <a:close/>
                  </a:path>
                </a:pathLst>
              </a:custGeom>
              <a:solidFill>
                <a:srgbClr val="7F2191"/>
              </a:solidFill>
            </p:spPr>
          </p:sp>
          <p:sp>
            <p:nvSpPr>
              <p:cNvPr id="31" name="TextBox 31"/>
              <p:cNvSpPr txBox="1"/>
              <p:nvPr/>
            </p:nvSpPr>
            <p:spPr>
              <a:xfrm>
                <a:off x="0" y="-9525"/>
                <a:ext cx="1167517" cy="919040"/>
              </a:xfrm>
              <a:prstGeom prst="rect">
                <a:avLst/>
              </a:prstGeom>
            </p:spPr>
            <p:txBody>
              <a:bodyPr lIns="41573" tIns="41573" rIns="41573" bIns="41573" rtlCol="0" anchor="ctr"/>
              <a:lstStyle/>
              <a:p>
                <a:pPr algn="ctr">
                  <a:lnSpc>
                    <a:spcPts val="2220"/>
                  </a:lnSpc>
                </a:pPr>
                <a:endParaRPr/>
              </a:p>
            </p:txBody>
          </p:sp>
        </p:grpSp>
        <p:grpSp>
          <p:nvGrpSpPr>
            <p:cNvPr id="32" name="Group 32"/>
            <p:cNvGrpSpPr/>
            <p:nvPr/>
          </p:nvGrpSpPr>
          <p:grpSpPr>
            <a:xfrm>
              <a:off x="674300" y="0"/>
              <a:ext cx="3488391" cy="3488377"/>
              <a:chOff x="0" y="0"/>
              <a:chExt cx="6350000" cy="6349975"/>
            </a:xfrm>
          </p:grpSpPr>
          <p:sp>
            <p:nvSpPr>
              <p:cNvPr id="33" name="Freeform 3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a:stretch>
              </a:blipFill>
              <a:ln w="95250" cap="sq">
                <a:solidFill>
                  <a:srgbClr val="FFFFFF"/>
                </a:solidFill>
                <a:prstDash val="solid"/>
                <a:miter/>
              </a:ln>
            </p:spPr>
          </p:sp>
        </p:grpSp>
        <p:sp>
          <p:nvSpPr>
            <p:cNvPr id="34" name="TextBox 34"/>
            <p:cNvSpPr txBox="1"/>
            <p:nvPr/>
          </p:nvSpPr>
          <p:spPr>
            <a:xfrm>
              <a:off x="36779" y="3692212"/>
              <a:ext cx="4763432" cy="449791"/>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Libre Franklin Semi-Bold"/>
                  <a:ea typeface="Libre Franklin Semi-Bold"/>
                  <a:cs typeface="Libre Franklin Semi-Bold"/>
                  <a:sym typeface="Libre Franklin Semi-Bold"/>
                </a:rPr>
                <a:t>M. Samy BEKRAR </a:t>
              </a:r>
            </a:p>
          </p:txBody>
        </p:sp>
        <p:sp>
          <p:nvSpPr>
            <p:cNvPr id="35" name="TextBox 35"/>
            <p:cNvSpPr txBox="1"/>
            <p:nvPr/>
          </p:nvSpPr>
          <p:spPr>
            <a:xfrm>
              <a:off x="36779" y="4293390"/>
              <a:ext cx="4763432" cy="352212"/>
            </a:xfrm>
            <a:prstGeom prst="rect">
              <a:avLst/>
            </a:prstGeom>
          </p:spPr>
          <p:txBody>
            <a:bodyPr lIns="0" tIns="0" rIns="0" bIns="0" rtlCol="0" anchor="t">
              <a:spAutoFit/>
            </a:bodyPr>
            <a:lstStyle/>
            <a:p>
              <a:pPr algn="ctr">
                <a:lnSpc>
                  <a:spcPts val="2240"/>
                </a:lnSpc>
              </a:pPr>
              <a:r>
                <a:rPr lang="en-US" sz="1600">
                  <a:solidFill>
                    <a:srgbClr val="FFFFFF"/>
                  </a:solidFill>
                  <a:latin typeface="Libre Franklin"/>
                  <a:ea typeface="Libre Franklin"/>
                  <a:cs typeface="Libre Franklin"/>
                  <a:sym typeface="Libre Franklin"/>
                </a:rPr>
                <a:t>Chef de Projet | ARC</a:t>
              </a:r>
            </a:p>
          </p:txBody>
        </p:sp>
      </p:grpSp>
      <p:grpSp>
        <p:nvGrpSpPr>
          <p:cNvPr id="36" name="Group 36"/>
          <p:cNvGrpSpPr/>
          <p:nvPr/>
        </p:nvGrpSpPr>
        <p:grpSpPr>
          <a:xfrm>
            <a:off x="1432933" y="3611147"/>
            <a:ext cx="721810" cy="181928"/>
            <a:chOff x="0" y="0"/>
            <a:chExt cx="962414" cy="242570"/>
          </a:xfrm>
        </p:grpSpPr>
        <p:grpSp>
          <p:nvGrpSpPr>
            <p:cNvPr id="37" name="Group 37"/>
            <p:cNvGrpSpPr/>
            <p:nvPr/>
          </p:nvGrpSpPr>
          <p:grpSpPr>
            <a:xfrm>
              <a:off x="0" y="0"/>
              <a:ext cx="242570" cy="242570"/>
              <a:chOff x="0" y="0"/>
              <a:chExt cx="130677" cy="130677"/>
            </a:xfrm>
          </p:grpSpPr>
          <p:sp>
            <p:nvSpPr>
              <p:cNvPr id="38" name="Freeform 3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39" name="TextBox 3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40" name="Group 40"/>
            <p:cNvGrpSpPr/>
            <p:nvPr/>
          </p:nvGrpSpPr>
          <p:grpSpPr>
            <a:xfrm>
              <a:off x="356870" y="0"/>
              <a:ext cx="242570" cy="242570"/>
              <a:chOff x="0" y="0"/>
              <a:chExt cx="130677" cy="130677"/>
            </a:xfrm>
          </p:grpSpPr>
          <p:sp>
            <p:nvSpPr>
              <p:cNvPr id="41" name="Freeform 41"/>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42" name="TextBox 42"/>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43" name="Group 43"/>
            <p:cNvGrpSpPr/>
            <p:nvPr/>
          </p:nvGrpSpPr>
          <p:grpSpPr>
            <a:xfrm>
              <a:off x="719844" y="0"/>
              <a:ext cx="242570" cy="242570"/>
              <a:chOff x="0" y="0"/>
              <a:chExt cx="130677" cy="130677"/>
            </a:xfrm>
          </p:grpSpPr>
          <p:sp>
            <p:nvSpPr>
              <p:cNvPr id="44" name="Freeform 44"/>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45" name="TextBox 45"/>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46" name="TextBox 46"/>
          <p:cNvSpPr txBox="1"/>
          <p:nvPr/>
        </p:nvSpPr>
        <p:spPr>
          <a:xfrm>
            <a:off x="11073773" y="8178402"/>
            <a:ext cx="3572574" cy="349250"/>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Libre Franklin Semi-Bold"/>
                <a:ea typeface="Libre Franklin Semi-Bold"/>
                <a:cs typeface="Libre Franklin Semi-Bold"/>
                <a:sym typeface="Libre Franklin Semi-Bold"/>
              </a:rPr>
              <a:t>M. Chokri DJERIBI </a:t>
            </a:r>
          </a:p>
        </p:txBody>
      </p:sp>
      <p:sp>
        <p:nvSpPr>
          <p:cNvPr id="47" name="TextBox 47"/>
          <p:cNvSpPr txBox="1"/>
          <p:nvPr/>
        </p:nvSpPr>
        <p:spPr>
          <a:xfrm>
            <a:off x="11073773" y="8631666"/>
            <a:ext cx="3572574" cy="549909"/>
          </a:xfrm>
          <a:prstGeom prst="rect">
            <a:avLst/>
          </a:prstGeom>
        </p:spPr>
        <p:txBody>
          <a:bodyPr lIns="0" tIns="0" rIns="0" bIns="0" rtlCol="0" anchor="t">
            <a:spAutoFit/>
          </a:bodyPr>
          <a:lstStyle/>
          <a:p>
            <a:pPr algn="ctr">
              <a:lnSpc>
                <a:spcPts val="2240"/>
              </a:lnSpc>
            </a:pPr>
            <a:r>
              <a:rPr lang="en-US" sz="1600">
                <a:solidFill>
                  <a:srgbClr val="FFFFFF"/>
                </a:solidFill>
                <a:latin typeface="Libre Franklin"/>
                <a:ea typeface="Libre Franklin"/>
                <a:cs typeface="Libre Franklin"/>
                <a:sym typeface="Libre Franklin"/>
              </a:rPr>
              <a:t>Co-founder / Directeur Médicale Eshmoun </a:t>
            </a:r>
          </a:p>
        </p:txBody>
      </p:sp>
      <p:sp>
        <p:nvSpPr>
          <p:cNvPr id="48" name="TextBox 48"/>
          <p:cNvSpPr txBox="1"/>
          <p:nvPr/>
        </p:nvSpPr>
        <p:spPr>
          <a:xfrm>
            <a:off x="6283980" y="8178402"/>
            <a:ext cx="3572574" cy="349250"/>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Libre Franklin Semi-Bold"/>
                <a:ea typeface="Libre Franklin Semi-Bold"/>
                <a:cs typeface="Libre Franklin Semi-Bold"/>
                <a:sym typeface="Libre Franklin Semi-Bold"/>
              </a:rPr>
              <a:t>Mme. Souad DZIRI</a:t>
            </a:r>
          </a:p>
        </p:txBody>
      </p:sp>
      <p:sp>
        <p:nvSpPr>
          <p:cNvPr id="49" name="TextBox 49"/>
          <p:cNvSpPr txBox="1"/>
          <p:nvPr/>
        </p:nvSpPr>
        <p:spPr>
          <a:xfrm>
            <a:off x="6283980" y="8631666"/>
            <a:ext cx="3572574" cy="273684"/>
          </a:xfrm>
          <a:prstGeom prst="rect">
            <a:avLst/>
          </a:prstGeom>
        </p:spPr>
        <p:txBody>
          <a:bodyPr lIns="0" tIns="0" rIns="0" bIns="0" rtlCol="0" anchor="t">
            <a:spAutoFit/>
          </a:bodyPr>
          <a:lstStyle/>
          <a:p>
            <a:pPr algn="ctr">
              <a:lnSpc>
                <a:spcPts val="2240"/>
              </a:lnSpc>
            </a:pPr>
            <a:r>
              <a:rPr lang="en-US" sz="1600">
                <a:solidFill>
                  <a:srgbClr val="FFFFFF"/>
                </a:solidFill>
                <a:latin typeface="Libre Franklin"/>
                <a:ea typeface="Libre Franklin"/>
                <a:cs typeface="Libre Franklin"/>
                <a:sym typeface="Libre Franklin"/>
              </a:rPr>
              <a:t>CEO / Co-founder Eshmoun</a:t>
            </a:r>
          </a:p>
        </p:txBody>
      </p:sp>
      <p:sp>
        <p:nvSpPr>
          <p:cNvPr id="50" name="TextBox 50"/>
          <p:cNvSpPr txBox="1"/>
          <p:nvPr/>
        </p:nvSpPr>
        <p:spPr>
          <a:xfrm>
            <a:off x="1432933" y="2005005"/>
            <a:ext cx="5444179" cy="1155700"/>
          </a:xfrm>
          <a:prstGeom prst="rect">
            <a:avLst/>
          </a:prstGeom>
        </p:spPr>
        <p:txBody>
          <a:bodyPr lIns="0" tIns="0" rIns="0" bIns="0" rtlCol="0" anchor="t">
            <a:spAutoFit/>
          </a:bodyPr>
          <a:lstStyle/>
          <a:p>
            <a:pPr marL="0" lvl="0" indent="0" algn="just">
              <a:lnSpc>
                <a:spcPts val="8399"/>
              </a:lnSpc>
            </a:pPr>
            <a:r>
              <a:rPr lang="en-US" sz="5999" b="1">
                <a:solidFill>
                  <a:srgbClr val="50298E"/>
                </a:solidFill>
                <a:latin typeface="Akzidenz-Grotesk Medium"/>
                <a:ea typeface="Akzidenz-Grotesk Medium"/>
                <a:cs typeface="Akzidenz-Grotesk Medium"/>
                <a:sym typeface="Akzidenz-Grotesk Medium"/>
              </a:rPr>
              <a:t>Not</a:t>
            </a:r>
            <a:r>
              <a:rPr lang="en-US" sz="5999" b="1" u="none" strike="noStrike">
                <a:solidFill>
                  <a:srgbClr val="50298E"/>
                </a:solidFill>
                <a:latin typeface="Akzidenz-Grotesk Medium"/>
                <a:ea typeface="Akzidenz-Grotesk Medium"/>
                <a:cs typeface="Akzidenz-Grotesk Medium"/>
                <a:sym typeface="Akzidenz-Grotesk Medium"/>
              </a:rPr>
              <a:t>re Équipe</a:t>
            </a:r>
          </a:p>
        </p:txBody>
      </p:sp>
      <p:sp>
        <p:nvSpPr>
          <p:cNvPr id="51" name="Freeform 51"/>
          <p:cNvSpPr/>
          <p:nvPr/>
        </p:nvSpPr>
        <p:spPr>
          <a:xfrm>
            <a:off x="361077" y="361077"/>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2" name="Freeform 52"/>
          <p:cNvSpPr/>
          <p:nvPr/>
        </p:nvSpPr>
        <p:spPr>
          <a:xfrm rot="2040788">
            <a:off x="16852152" y="8659240"/>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143500"/>
            <a:ext cx="4899246" cy="3910568"/>
            <a:chOff x="0" y="0"/>
            <a:chExt cx="1290336" cy="1029944"/>
          </a:xfrm>
        </p:grpSpPr>
        <p:sp>
          <p:nvSpPr>
            <p:cNvPr id="3" name="Freeform 3"/>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7F2191"/>
            </a:solidFill>
            <a:ln cap="rnd">
              <a:noFill/>
              <a:prstDash val="solid"/>
              <a:round/>
            </a:ln>
          </p:spPr>
        </p:sp>
        <p:sp>
          <p:nvSpPr>
            <p:cNvPr id="4" name="TextBox 4"/>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grpSp>
        <p:nvGrpSpPr>
          <p:cNvPr id="5" name="Group 5"/>
          <p:cNvGrpSpPr/>
          <p:nvPr/>
        </p:nvGrpSpPr>
        <p:grpSpPr>
          <a:xfrm>
            <a:off x="6697241" y="5143500"/>
            <a:ext cx="4899246" cy="3910568"/>
            <a:chOff x="0" y="0"/>
            <a:chExt cx="1290336" cy="1029944"/>
          </a:xfrm>
        </p:grpSpPr>
        <p:sp>
          <p:nvSpPr>
            <p:cNvPr id="6" name="Freeform 6"/>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FFFFFF"/>
            </a:solidFill>
            <a:ln w="19050" cap="rnd">
              <a:solidFill>
                <a:srgbClr val="50298E"/>
              </a:solidFill>
              <a:prstDash val="solid"/>
              <a:round/>
            </a:ln>
          </p:spPr>
        </p:sp>
        <p:sp>
          <p:nvSpPr>
            <p:cNvPr id="7" name="TextBox 7"/>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grpSp>
        <p:nvGrpSpPr>
          <p:cNvPr id="8" name="Group 8"/>
          <p:cNvGrpSpPr/>
          <p:nvPr/>
        </p:nvGrpSpPr>
        <p:grpSpPr>
          <a:xfrm>
            <a:off x="12368012" y="5143500"/>
            <a:ext cx="4899246" cy="3910568"/>
            <a:chOff x="0" y="0"/>
            <a:chExt cx="1290336" cy="1029944"/>
          </a:xfrm>
        </p:grpSpPr>
        <p:sp>
          <p:nvSpPr>
            <p:cNvPr id="9" name="Freeform 9"/>
            <p:cNvSpPr/>
            <p:nvPr/>
          </p:nvSpPr>
          <p:spPr>
            <a:xfrm>
              <a:off x="0" y="0"/>
              <a:ext cx="1290336" cy="1029944"/>
            </a:xfrm>
            <a:custGeom>
              <a:avLst/>
              <a:gdLst/>
              <a:ahLst/>
              <a:cxnLst/>
              <a:rect l="l" t="t" r="r" b="b"/>
              <a:pathLst>
                <a:path w="1290336" h="1029944">
                  <a:moveTo>
                    <a:pt x="55308" y="0"/>
                  </a:moveTo>
                  <a:lnTo>
                    <a:pt x="1235028" y="0"/>
                  </a:lnTo>
                  <a:cubicBezTo>
                    <a:pt x="1249697" y="0"/>
                    <a:pt x="1263765" y="5827"/>
                    <a:pt x="1274137" y="16199"/>
                  </a:cubicBezTo>
                  <a:cubicBezTo>
                    <a:pt x="1284509" y="26572"/>
                    <a:pt x="1290336" y="40639"/>
                    <a:pt x="1290336" y="55308"/>
                  </a:cubicBezTo>
                  <a:lnTo>
                    <a:pt x="1290336" y="974636"/>
                  </a:lnTo>
                  <a:cubicBezTo>
                    <a:pt x="1290336" y="989305"/>
                    <a:pt x="1284509" y="1003372"/>
                    <a:pt x="1274137" y="1013745"/>
                  </a:cubicBezTo>
                  <a:cubicBezTo>
                    <a:pt x="1263765" y="1024117"/>
                    <a:pt x="1249697" y="1029944"/>
                    <a:pt x="1235028" y="1029944"/>
                  </a:cubicBezTo>
                  <a:lnTo>
                    <a:pt x="55308" y="1029944"/>
                  </a:lnTo>
                  <a:cubicBezTo>
                    <a:pt x="40639" y="1029944"/>
                    <a:pt x="26572" y="1024117"/>
                    <a:pt x="16199" y="1013745"/>
                  </a:cubicBezTo>
                  <a:cubicBezTo>
                    <a:pt x="5827" y="1003372"/>
                    <a:pt x="0" y="989305"/>
                    <a:pt x="0" y="974636"/>
                  </a:cubicBezTo>
                  <a:lnTo>
                    <a:pt x="0" y="55308"/>
                  </a:lnTo>
                  <a:cubicBezTo>
                    <a:pt x="0" y="40639"/>
                    <a:pt x="5827" y="26572"/>
                    <a:pt x="16199" y="16199"/>
                  </a:cubicBezTo>
                  <a:cubicBezTo>
                    <a:pt x="26572" y="5827"/>
                    <a:pt x="40639" y="0"/>
                    <a:pt x="55308" y="0"/>
                  </a:cubicBezTo>
                  <a:close/>
                </a:path>
              </a:pathLst>
            </a:custGeom>
            <a:solidFill>
              <a:srgbClr val="7F2191"/>
            </a:solidFill>
            <a:ln cap="rnd">
              <a:noFill/>
              <a:prstDash val="solid"/>
              <a:round/>
            </a:ln>
          </p:spPr>
        </p:sp>
        <p:sp>
          <p:nvSpPr>
            <p:cNvPr id="10" name="TextBox 10"/>
            <p:cNvSpPr txBox="1"/>
            <p:nvPr/>
          </p:nvSpPr>
          <p:spPr>
            <a:xfrm>
              <a:off x="0" y="9525"/>
              <a:ext cx="1290336" cy="1020419"/>
            </a:xfrm>
            <a:prstGeom prst="rect">
              <a:avLst/>
            </a:prstGeom>
          </p:spPr>
          <p:txBody>
            <a:bodyPr lIns="50800" tIns="50800" rIns="50800" bIns="50800" rtlCol="0" anchor="ctr"/>
            <a:lstStyle/>
            <a:p>
              <a:pPr marL="0" lvl="0" indent="0" algn="ctr">
                <a:lnSpc>
                  <a:spcPts val="2999"/>
                </a:lnSpc>
                <a:spcBef>
                  <a:spcPct val="0"/>
                </a:spcBef>
              </a:pPr>
              <a:endParaRPr/>
            </a:p>
          </p:txBody>
        </p:sp>
      </p:grpSp>
      <p:sp>
        <p:nvSpPr>
          <p:cNvPr id="11" name="Freeform 11"/>
          <p:cNvSpPr/>
          <p:nvPr/>
        </p:nvSpPr>
        <p:spPr>
          <a:xfrm>
            <a:off x="3001136" y="5539352"/>
            <a:ext cx="954373" cy="1043152"/>
          </a:xfrm>
          <a:custGeom>
            <a:avLst/>
            <a:gdLst/>
            <a:ahLst/>
            <a:cxnLst/>
            <a:rect l="l" t="t" r="r" b="b"/>
            <a:pathLst>
              <a:path w="954373" h="1043152">
                <a:moveTo>
                  <a:pt x="0" y="0"/>
                </a:moveTo>
                <a:lnTo>
                  <a:pt x="954374" y="0"/>
                </a:lnTo>
                <a:lnTo>
                  <a:pt x="954374" y="1043152"/>
                </a:lnTo>
                <a:lnTo>
                  <a:pt x="0" y="1043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8693489" y="5539352"/>
            <a:ext cx="901023" cy="1043152"/>
          </a:xfrm>
          <a:custGeom>
            <a:avLst/>
            <a:gdLst/>
            <a:ahLst/>
            <a:cxnLst/>
            <a:rect l="l" t="t" r="r" b="b"/>
            <a:pathLst>
              <a:path w="901023" h="1043152">
                <a:moveTo>
                  <a:pt x="0" y="0"/>
                </a:moveTo>
                <a:lnTo>
                  <a:pt x="901022" y="0"/>
                </a:lnTo>
                <a:lnTo>
                  <a:pt x="901022" y="1043152"/>
                </a:lnTo>
                <a:lnTo>
                  <a:pt x="0" y="10431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8783095" y="3071646"/>
            <a:ext cx="721810" cy="181928"/>
            <a:chOff x="0" y="0"/>
            <a:chExt cx="962414" cy="242570"/>
          </a:xfrm>
        </p:grpSpPr>
        <p:grpSp>
          <p:nvGrpSpPr>
            <p:cNvPr id="14" name="Group 14"/>
            <p:cNvGrpSpPr/>
            <p:nvPr/>
          </p:nvGrpSpPr>
          <p:grpSpPr>
            <a:xfrm>
              <a:off x="0" y="0"/>
              <a:ext cx="242570" cy="242570"/>
              <a:chOff x="0" y="0"/>
              <a:chExt cx="130677" cy="130677"/>
            </a:xfrm>
          </p:grpSpPr>
          <p:sp>
            <p:nvSpPr>
              <p:cNvPr id="15" name="Freeform 15"/>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6" name="TextBox 16"/>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7" name="Group 17"/>
            <p:cNvGrpSpPr/>
            <p:nvPr/>
          </p:nvGrpSpPr>
          <p:grpSpPr>
            <a:xfrm>
              <a:off x="356870" y="0"/>
              <a:ext cx="242570" cy="242570"/>
              <a:chOff x="0" y="0"/>
              <a:chExt cx="130677" cy="130677"/>
            </a:xfrm>
          </p:grpSpPr>
          <p:sp>
            <p:nvSpPr>
              <p:cNvPr id="18" name="Freeform 1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9" name="TextBox 1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0" name="Group 20"/>
            <p:cNvGrpSpPr/>
            <p:nvPr/>
          </p:nvGrpSpPr>
          <p:grpSpPr>
            <a:xfrm>
              <a:off x="719844" y="0"/>
              <a:ext cx="242570" cy="242570"/>
              <a:chOff x="0" y="0"/>
              <a:chExt cx="130677" cy="130677"/>
            </a:xfrm>
          </p:grpSpPr>
          <p:sp>
            <p:nvSpPr>
              <p:cNvPr id="21" name="Freeform 21"/>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2" name="TextBox 22"/>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3" name="Freeform 23"/>
          <p:cNvSpPr/>
          <p:nvPr/>
        </p:nvSpPr>
        <p:spPr>
          <a:xfrm>
            <a:off x="14452062" y="5539352"/>
            <a:ext cx="761501" cy="1043152"/>
          </a:xfrm>
          <a:custGeom>
            <a:avLst/>
            <a:gdLst/>
            <a:ahLst/>
            <a:cxnLst/>
            <a:rect l="l" t="t" r="r" b="b"/>
            <a:pathLst>
              <a:path w="761501" h="1043152">
                <a:moveTo>
                  <a:pt x="0" y="0"/>
                </a:moveTo>
                <a:lnTo>
                  <a:pt x="761502" y="0"/>
                </a:lnTo>
                <a:lnTo>
                  <a:pt x="761502" y="1043152"/>
                </a:lnTo>
                <a:lnTo>
                  <a:pt x="0" y="10431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TextBox 24"/>
          <p:cNvSpPr txBox="1"/>
          <p:nvPr/>
        </p:nvSpPr>
        <p:spPr>
          <a:xfrm>
            <a:off x="1512538"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u="none" strike="noStrike">
                <a:solidFill>
                  <a:srgbClr val="FFFFFF"/>
                </a:solidFill>
                <a:latin typeface="Libre Franklin"/>
                <a:ea typeface="Libre Franklin"/>
                <a:cs typeface="Libre Franklin"/>
                <a:sym typeface="Libre Franklin"/>
              </a:rPr>
              <a:t>Conduire des études cliniques fiables, conformes et stratégiques.</a:t>
            </a:r>
          </a:p>
        </p:txBody>
      </p:sp>
      <p:sp>
        <p:nvSpPr>
          <p:cNvPr id="25" name="TextBox 25"/>
          <p:cNvSpPr txBox="1"/>
          <p:nvPr/>
        </p:nvSpPr>
        <p:spPr>
          <a:xfrm>
            <a:off x="1482183"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u="none" strike="noStrike">
                <a:solidFill>
                  <a:srgbClr val="FFFFFF"/>
                </a:solidFill>
                <a:latin typeface="Libre Franklin Semi-Bold"/>
                <a:ea typeface="Libre Franklin Semi-Bold"/>
                <a:cs typeface="Libre Franklin Semi-Bold"/>
                <a:sym typeface="Libre Franklin Semi-Bold"/>
              </a:rPr>
              <a:t>Industrie pharmaceutique</a:t>
            </a:r>
          </a:p>
        </p:txBody>
      </p:sp>
      <p:sp>
        <p:nvSpPr>
          <p:cNvPr id="26" name="TextBox 26"/>
          <p:cNvSpPr txBox="1"/>
          <p:nvPr/>
        </p:nvSpPr>
        <p:spPr>
          <a:xfrm>
            <a:off x="1892091" y="1704188"/>
            <a:ext cx="14539901" cy="967105"/>
          </a:xfrm>
          <a:prstGeom prst="rect">
            <a:avLst/>
          </a:prstGeom>
        </p:spPr>
        <p:txBody>
          <a:bodyPr lIns="0" tIns="0" rIns="0" bIns="0" rtlCol="0" anchor="t">
            <a:spAutoFit/>
          </a:bodyPr>
          <a:lstStyle/>
          <a:p>
            <a:pPr marL="0" lvl="0" indent="0" algn="ctr">
              <a:lnSpc>
                <a:spcPts val="6359"/>
              </a:lnSpc>
              <a:spcBef>
                <a:spcPct val="0"/>
              </a:spcBef>
            </a:pPr>
            <a:r>
              <a:rPr lang="en-US" sz="5999" b="1" u="none" strike="noStrike">
                <a:solidFill>
                  <a:srgbClr val="50298E"/>
                </a:solidFill>
                <a:latin typeface="Akzidenz-Grotesk Medium"/>
                <a:ea typeface="Akzidenz-Grotesk Medium"/>
                <a:cs typeface="Akzidenz-Grotesk Medium"/>
                <a:sym typeface="Akzidenz-Grotesk Medium"/>
              </a:rPr>
              <a:t>Les Acteurs que Nous Accompagnons</a:t>
            </a:r>
          </a:p>
        </p:txBody>
      </p:sp>
      <p:sp>
        <p:nvSpPr>
          <p:cNvPr id="27" name="TextBox 27"/>
          <p:cNvSpPr txBox="1"/>
          <p:nvPr/>
        </p:nvSpPr>
        <p:spPr>
          <a:xfrm>
            <a:off x="3840159" y="3535515"/>
            <a:ext cx="10650263" cy="752474"/>
          </a:xfrm>
          <a:prstGeom prst="rect">
            <a:avLst/>
          </a:prstGeom>
        </p:spPr>
        <p:txBody>
          <a:bodyPr lIns="0" tIns="0" rIns="0" bIns="0" rtlCol="0" anchor="t">
            <a:spAutoFit/>
          </a:bodyPr>
          <a:lstStyle/>
          <a:p>
            <a:pPr marL="0" lvl="0" indent="0" algn="ctr">
              <a:lnSpc>
                <a:spcPts val="3000"/>
              </a:lnSpc>
              <a:spcBef>
                <a:spcPct val="0"/>
              </a:spcBef>
            </a:pPr>
            <a:r>
              <a:rPr lang="en-US" sz="2000" u="none" strike="noStrike">
                <a:solidFill>
                  <a:srgbClr val="000000"/>
                </a:solidFill>
                <a:latin typeface="Libre Franklin"/>
                <a:ea typeface="Libre Franklin"/>
                <a:cs typeface="Libre Franklin"/>
                <a:sym typeface="Libre Franklin"/>
              </a:rPr>
              <a:t>Fournir des solutions fiables et éthiques aux acteurs de la santé et des sciences, pour transformer chaque projet en succès durable et à fort impact.</a:t>
            </a:r>
          </a:p>
        </p:txBody>
      </p:sp>
      <p:sp>
        <p:nvSpPr>
          <p:cNvPr id="28" name="TextBox 28"/>
          <p:cNvSpPr txBox="1"/>
          <p:nvPr/>
        </p:nvSpPr>
        <p:spPr>
          <a:xfrm>
            <a:off x="7181079"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u="none" strike="noStrike">
                <a:solidFill>
                  <a:srgbClr val="000000"/>
                </a:solidFill>
                <a:latin typeface="Libre Franklin"/>
                <a:ea typeface="Libre Franklin"/>
                <a:cs typeface="Libre Franklin"/>
                <a:sym typeface="Libre Franklin"/>
              </a:rPr>
              <a:t>Renforcer l’écosystème scientifique et les politiques </a:t>
            </a:r>
          </a:p>
          <a:p>
            <a:pPr marL="0" lvl="0" indent="0" algn="ctr">
              <a:lnSpc>
                <a:spcPts val="3000"/>
              </a:lnSpc>
              <a:spcBef>
                <a:spcPct val="0"/>
              </a:spcBef>
            </a:pPr>
            <a:r>
              <a:rPr lang="en-US" sz="2000" u="none" strike="noStrike">
                <a:solidFill>
                  <a:srgbClr val="000000"/>
                </a:solidFill>
                <a:latin typeface="Libre Franklin"/>
                <a:ea typeface="Libre Franklin"/>
                <a:cs typeface="Libre Franklin"/>
                <a:sym typeface="Libre Franklin"/>
              </a:rPr>
              <a:t>de santé.</a:t>
            </a:r>
          </a:p>
        </p:txBody>
      </p:sp>
      <p:sp>
        <p:nvSpPr>
          <p:cNvPr id="29" name="TextBox 29"/>
          <p:cNvSpPr txBox="1"/>
          <p:nvPr/>
        </p:nvSpPr>
        <p:spPr>
          <a:xfrm>
            <a:off x="7150724"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u="none" strike="noStrike">
                <a:solidFill>
                  <a:srgbClr val="50298E"/>
                </a:solidFill>
                <a:latin typeface="Libre Franklin Semi-Bold"/>
                <a:ea typeface="Libre Franklin Semi-Bold"/>
                <a:cs typeface="Libre Franklin Semi-Bold"/>
                <a:sym typeface="Libre Franklin Semi-Bold"/>
              </a:rPr>
              <a:t>Institutions</a:t>
            </a:r>
          </a:p>
        </p:txBody>
      </p:sp>
      <p:sp>
        <p:nvSpPr>
          <p:cNvPr id="30" name="TextBox 30"/>
          <p:cNvSpPr txBox="1"/>
          <p:nvPr/>
        </p:nvSpPr>
        <p:spPr>
          <a:xfrm>
            <a:off x="12851850" y="7430034"/>
            <a:ext cx="3961926" cy="1133474"/>
          </a:xfrm>
          <a:prstGeom prst="rect">
            <a:avLst/>
          </a:prstGeom>
        </p:spPr>
        <p:txBody>
          <a:bodyPr lIns="0" tIns="0" rIns="0" bIns="0" rtlCol="0" anchor="t">
            <a:spAutoFit/>
          </a:bodyPr>
          <a:lstStyle/>
          <a:p>
            <a:pPr marL="0" lvl="0" indent="0" algn="ctr">
              <a:lnSpc>
                <a:spcPts val="3000"/>
              </a:lnSpc>
              <a:spcBef>
                <a:spcPct val="0"/>
              </a:spcBef>
            </a:pPr>
            <a:r>
              <a:rPr lang="en-US" sz="2000" u="none" strike="noStrike">
                <a:solidFill>
                  <a:srgbClr val="FFFFFF"/>
                </a:solidFill>
                <a:latin typeface="Libre Franklin"/>
                <a:ea typeface="Libre Franklin"/>
                <a:cs typeface="Libre Franklin"/>
                <a:sym typeface="Libre Franklin"/>
              </a:rPr>
              <a:t>Valoriser et diffuser les recherches scientifiques avec rigueur, impact et innovation.</a:t>
            </a:r>
          </a:p>
        </p:txBody>
      </p:sp>
      <p:sp>
        <p:nvSpPr>
          <p:cNvPr id="31" name="TextBox 31"/>
          <p:cNvSpPr txBox="1"/>
          <p:nvPr/>
        </p:nvSpPr>
        <p:spPr>
          <a:xfrm>
            <a:off x="12821495" y="6837524"/>
            <a:ext cx="3992281" cy="361950"/>
          </a:xfrm>
          <a:prstGeom prst="rect">
            <a:avLst/>
          </a:prstGeom>
        </p:spPr>
        <p:txBody>
          <a:bodyPr lIns="0" tIns="0" rIns="0" bIns="0" rtlCol="0" anchor="t">
            <a:spAutoFit/>
          </a:bodyPr>
          <a:lstStyle/>
          <a:p>
            <a:pPr marL="0" lvl="0" indent="0" algn="ctr">
              <a:lnSpc>
                <a:spcPts val="2999"/>
              </a:lnSpc>
              <a:spcBef>
                <a:spcPct val="0"/>
              </a:spcBef>
            </a:pPr>
            <a:r>
              <a:rPr lang="en-US" sz="2499" b="1">
                <a:solidFill>
                  <a:srgbClr val="FFFFFF"/>
                </a:solidFill>
                <a:latin typeface="Libre Franklin Semi-Bold"/>
                <a:ea typeface="Libre Franklin Semi-Bold"/>
                <a:cs typeface="Libre Franklin Semi-Bold"/>
                <a:sym typeface="Libre Franklin Semi-Bold"/>
              </a:rPr>
              <a:t>Société</a:t>
            </a:r>
            <a:r>
              <a:rPr lang="en-US" sz="2499" b="1" u="none" strike="noStrike">
                <a:solidFill>
                  <a:srgbClr val="FFFFFF"/>
                </a:solidFill>
                <a:latin typeface="Libre Franklin Semi-Bold"/>
                <a:ea typeface="Libre Franklin Semi-Bold"/>
                <a:cs typeface="Libre Franklin Semi-Bold"/>
                <a:sym typeface="Libre Franklin Semi-Bold"/>
              </a:rPr>
              <a:t>s savantes</a:t>
            </a:r>
          </a:p>
        </p:txBody>
      </p:sp>
      <p:sp>
        <p:nvSpPr>
          <p:cNvPr id="32" name="Freeform 32"/>
          <p:cNvSpPr/>
          <p:nvPr/>
        </p:nvSpPr>
        <p:spPr>
          <a:xfrm>
            <a:off x="361077" y="361077"/>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3" name="Freeform 33"/>
          <p:cNvSpPr/>
          <p:nvPr/>
        </p:nvSpPr>
        <p:spPr>
          <a:xfrm rot="2040788">
            <a:off x="16852152" y="8659240"/>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8">
              <a:alphaModFix amt="50000"/>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7F2191">
                <a:alpha val="100000"/>
              </a:srgbClr>
            </a:gs>
            <a:gs pos="100000">
              <a:srgbClr val="4C005A">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235636" y="4077652"/>
            <a:ext cx="11816727" cy="1979295"/>
          </a:xfrm>
          <a:prstGeom prst="rect">
            <a:avLst/>
          </a:prstGeom>
        </p:spPr>
        <p:txBody>
          <a:bodyPr lIns="0" tIns="0" rIns="0" bIns="0" rtlCol="0" anchor="t">
            <a:spAutoFit/>
          </a:bodyPr>
          <a:lstStyle/>
          <a:p>
            <a:pPr algn="ctr">
              <a:lnSpc>
                <a:spcPts val="13440"/>
              </a:lnSpc>
            </a:pPr>
            <a:r>
              <a:rPr lang="en-US" sz="12000">
                <a:solidFill>
                  <a:srgbClr val="FFFFFF"/>
                </a:solidFill>
                <a:latin typeface="Akzidenz-Grotesk"/>
                <a:ea typeface="Akzidenz-Grotesk"/>
                <a:cs typeface="Akzidenz-Grotesk"/>
                <a:sym typeface="Akzidenz-Grotesk"/>
              </a:rPr>
              <a:t>Nos Services</a:t>
            </a:r>
          </a:p>
        </p:txBody>
      </p:sp>
      <p:grpSp>
        <p:nvGrpSpPr>
          <p:cNvPr id="3" name="Group 3"/>
          <p:cNvGrpSpPr/>
          <p:nvPr/>
        </p:nvGrpSpPr>
        <p:grpSpPr>
          <a:xfrm>
            <a:off x="8738020" y="6245722"/>
            <a:ext cx="811960" cy="201930"/>
            <a:chOff x="0" y="0"/>
            <a:chExt cx="1082614" cy="269240"/>
          </a:xfrm>
        </p:grpSpPr>
        <p:grpSp>
          <p:nvGrpSpPr>
            <p:cNvPr id="4" name="Group 4"/>
            <p:cNvGrpSpPr/>
            <p:nvPr/>
          </p:nvGrpSpPr>
          <p:grpSpPr>
            <a:xfrm>
              <a:off x="0" y="0"/>
              <a:ext cx="269240" cy="269240"/>
              <a:chOff x="0" y="0"/>
              <a:chExt cx="145045" cy="145045"/>
            </a:xfrm>
          </p:grpSpPr>
          <p:sp>
            <p:nvSpPr>
              <p:cNvPr id="5" name="Freeform 5"/>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6" name="TextBox 6"/>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nvGrpSpPr>
            <p:cNvPr id="7" name="Group 7"/>
            <p:cNvGrpSpPr/>
            <p:nvPr/>
          </p:nvGrpSpPr>
          <p:grpSpPr>
            <a:xfrm>
              <a:off x="404434" y="0"/>
              <a:ext cx="269240" cy="269240"/>
              <a:chOff x="0" y="0"/>
              <a:chExt cx="145045" cy="145045"/>
            </a:xfrm>
          </p:grpSpPr>
          <p:sp>
            <p:nvSpPr>
              <p:cNvPr id="8" name="Freeform 8"/>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9" name="TextBox 9"/>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nvGrpSpPr>
            <p:cNvPr id="10" name="Group 10"/>
            <p:cNvGrpSpPr/>
            <p:nvPr/>
          </p:nvGrpSpPr>
          <p:grpSpPr>
            <a:xfrm>
              <a:off x="813374" y="0"/>
              <a:ext cx="269240" cy="269240"/>
              <a:chOff x="0" y="0"/>
              <a:chExt cx="145045" cy="145045"/>
            </a:xfrm>
          </p:grpSpPr>
          <p:sp>
            <p:nvSpPr>
              <p:cNvPr id="11" name="Freeform 11"/>
              <p:cNvSpPr/>
              <p:nvPr/>
            </p:nvSpPr>
            <p:spPr>
              <a:xfrm>
                <a:off x="0" y="0"/>
                <a:ext cx="145045" cy="145045"/>
              </a:xfrm>
              <a:custGeom>
                <a:avLst/>
                <a:gdLst/>
                <a:ahLst/>
                <a:cxnLst/>
                <a:rect l="l" t="t" r="r" b="b"/>
                <a:pathLst>
                  <a:path w="145045" h="145045">
                    <a:moveTo>
                      <a:pt x="72523" y="0"/>
                    </a:moveTo>
                    <a:lnTo>
                      <a:pt x="72523" y="0"/>
                    </a:lnTo>
                    <a:cubicBezTo>
                      <a:pt x="91757" y="0"/>
                      <a:pt x="110203" y="7641"/>
                      <a:pt x="123804" y="21241"/>
                    </a:cubicBezTo>
                    <a:cubicBezTo>
                      <a:pt x="137404" y="34842"/>
                      <a:pt x="145045" y="53288"/>
                      <a:pt x="145045" y="72523"/>
                    </a:cubicBezTo>
                    <a:lnTo>
                      <a:pt x="145045" y="72523"/>
                    </a:lnTo>
                    <a:cubicBezTo>
                      <a:pt x="145045" y="91757"/>
                      <a:pt x="137404" y="110203"/>
                      <a:pt x="123804" y="123804"/>
                    </a:cubicBezTo>
                    <a:cubicBezTo>
                      <a:pt x="110203" y="137404"/>
                      <a:pt x="91757" y="145045"/>
                      <a:pt x="72523" y="145045"/>
                    </a:cubicBezTo>
                    <a:lnTo>
                      <a:pt x="72523" y="145045"/>
                    </a:lnTo>
                    <a:cubicBezTo>
                      <a:pt x="53288" y="145045"/>
                      <a:pt x="34842" y="137404"/>
                      <a:pt x="21241" y="123804"/>
                    </a:cubicBezTo>
                    <a:cubicBezTo>
                      <a:pt x="7641" y="110203"/>
                      <a:pt x="0" y="91757"/>
                      <a:pt x="0" y="72523"/>
                    </a:cubicBezTo>
                    <a:lnTo>
                      <a:pt x="0" y="72523"/>
                    </a:lnTo>
                    <a:cubicBezTo>
                      <a:pt x="0" y="53288"/>
                      <a:pt x="7641" y="34842"/>
                      <a:pt x="21241" y="21241"/>
                    </a:cubicBezTo>
                    <a:cubicBezTo>
                      <a:pt x="34842" y="7641"/>
                      <a:pt x="53288" y="0"/>
                      <a:pt x="72523" y="0"/>
                    </a:cubicBezTo>
                    <a:close/>
                  </a:path>
                </a:pathLst>
              </a:custGeom>
              <a:solidFill>
                <a:srgbClr val="FFFFFF">
                  <a:alpha val="49804"/>
                </a:srgbClr>
              </a:solidFill>
            </p:spPr>
          </p:sp>
          <p:sp>
            <p:nvSpPr>
              <p:cNvPr id="12" name="TextBox 12"/>
              <p:cNvSpPr txBox="1"/>
              <p:nvPr/>
            </p:nvSpPr>
            <p:spPr>
              <a:xfrm>
                <a:off x="0" y="-19050"/>
                <a:ext cx="145045" cy="164095"/>
              </a:xfrm>
              <a:prstGeom prst="rect">
                <a:avLst/>
              </a:prstGeom>
            </p:spPr>
            <p:txBody>
              <a:bodyPr lIns="50800" tIns="50800" rIns="50800" bIns="50800" rtlCol="0" anchor="ctr"/>
              <a:lstStyle/>
              <a:p>
                <a:pPr algn="ctr">
                  <a:lnSpc>
                    <a:spcPts val="979"/>
                  </a:lnSpc>
                </a:pPr>
                <a:endParaRPr/>
              </a:p>
            </p:txBody>
          </p:sp>
        </p:grpSp>
      </p:grpSp>
      <p:sp>
        <p:nvSpPr>
          <p:cNvPr id="13" name="Freeform 13"/>
          <p:cNvSpPr/>
          <p:nvPr/>
        </p:nvSpPr>
        <p:spPr>
          <a:xfrm rot="2040788">
            <a:off x="16852152" y="8659240"/>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14" name="Freeform 14"/>
          <p:cNvSpPr/>
          <p:nvPr/>
        </p:nvSpPr>
        <p:spPr>
          <a:xfrm>
            <a:off x="361077" y="361077"/>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730104"/>
            <a:chOff x="0" y="0"/>
            <a:chExt cx="385452" cy="323139"/>
          </a:xfrm>
        </p:grpSpPr>
        <p:sp>
          <p:nvSpPr>
            <p:cNvPr id="3" name="Freeform 3"/>
            <p:cNvSpPr/>
            <p:nvPr/>
          </p:nvSpPr>
          <p:spPr>
            <a:xfrm>
              <a:off x="0" y="0"/>
              <a:ext cx="385452" cy="323139"/>
            </a:xfrm>
            <a:custGeom>
              <a:avLst/>
              <a:gdLst/>
              <a:ahLst/>
              <a:cxnLst/>
              <a:rect l="l" t="t" r="r" b="b"/>
              <a:pathLst>
                <a:path w="385452" h="323139">
                  <a:moveTo>
                    <a:pt x="18123" y="0"/>
                  </a:moveTo>
                  <a:lnTo>
                    <a:pt x="367329" y="0"/>
                  </a:lnTo>
                  <a:cubicBezTo>
                    <a:pt x="377338" y="0"/>
                    <a:pt x="385452" y="8114"/>
                    <a:pt x="385452" y="18123"/>
                  </a:cubicBezTo>
                  <a:lnTo>
                    <a:pt x="385452" y="305016"/>
                  </a:lnTo>
                  <a:cubicBezTo>
                    <a:pt x="385452" y="315025"/>
                    <a:pt x="377338" y="323139"/>
                    <a:pt x="367329" y="323139"/>
                  </a:cubicBezTo>
                  <a:lnTo>
                    <a:pt x="18123" y="323139"/>
                  </a:lnTo>
                  <a:cubicBezTo>
                    <a:pt x="8114" y="323139"/>
                    <a:pt x="0" y="315025"/>
                    <a:pt x="0" y="305016"/>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61239"/>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6094348"/>
            <a:chOff x="0" y="0"/>
            <a:chExt cx="929455" cy="944174"/>
          </a:xfrm>
        </p:grpSpPr>
        <p:sp>
          <p:nvSpPr>
            <p:cNvPr id="9" name="Freeform 9"/>
            <p:cNvSpPr/>
            <p:nvPr/>
          </p:nvSpPr>
          <p:spPr>
            <a:xfrm>
              <a:off x="0" y="0"/>
              <a:ext cx="929455" cy="944174"/>
            </a:xfrm>
            <a:custGeom>
              <a:avLst/>
              <a:gdLst/>
              <a:ahLst/>
              <a:cxnLst/>
              <a:rect l="l" t="t" r="r" b="b"/>
              <a:pathLst>
                <a:path w="929455" h="944174">
                  <a:moveTo>
                    <a:pt x="29681" y="0"/>
                  </a:moveTo>
                  <a:lnTo>
                    <a:pt x="899774" y="0"/>
                  </a:lnTo>
                  <a:cubicBezTo>
                    <a:pt x="907646" y="0"/>
                    <a:pt x="915195" y="3127"/>
                    <a:pt x="920762" y="8693"/>
                  </a:cubicBezTo>
                  <a:cubicBezTo>
                    <a:pt x="926328" y="14259"/>
                    <a:pt x="929455" y="21809"/>
                    <a:pt x="929455" y="29681"/>
                  </a:cubicBezTo>
                  <a:lnTo>
                    <a:pt x="929455" y="914493"/>
                  </a:lnTo>
                  <a:cubicBezTo>
                    <a:pt x="929455" y="930886"/>
                    <a:pt x="916166" y="944174"/>
                    <a:pt x="899774" y="944174"/>
                  </a:cubicBezTo>
                  <a:lnTo>
                    <a:pt x="29681" y="944174"/>
                  </a:lnTo>
                  <a:cubicBezTo>
                    <a:pt x="13288" y="944174"/>
                    <a:pt x="0" y="930886"/>
                    <a:pt x="0" y="914493"/>
                  </a:cubicBezTo>
                  <a:lnTo>
                    <a:pt x="0" y="29681"/>
                  </a:lnTo>
                  <a:cubicBezTo>
                    <a:pt x="0" y="13288"/>
                    <a:pt x="13288" y="0"/>
                    <a:pt x="29681" y="0"/>
                  </a:cubicBezTo>
                  <a:close/>
                </a:path>
              </a:pathLst>
            </a:custGeom>
            <a:blipFill>
              <a:blip r:embed="rId2"/>
              <a:stretch>
                <a:fillRect l="-57011" r="-195"/>
              </a:stretch>
            </a:blipFill>
            <a:ln cap="rnd">
              <a:noFill/>
              <a:prstDash val="solid"/>
              <a:round/>
            </a:ln>
          </p:spPr>
        </p:sp>
      </p:grpSp>
      <p:sp>
        <p:nvSpPr>
          <p:cNvPr id="10" name="Freeform 10"/>
          <p:cNvSpPr/>
          <p:nvPr/>
        </p:nvSpPr>
        <p:spPr>
          <a:xfrm>
            <a:off x="9572976" y="4119068"/>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5106951"/>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6097551"/>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6707150"/>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9572976" y="7697749"/>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5" name="Group 15"/>
          <p:cNvGrpSpPr/>
          <p:nvPr/>
        </p:nvGrpSpPr>
        <p:grpSpPr>
          <a:xfrm>
            <a:off x="9577554" y="3228411"/>
            <a:ext cx="721810" cy="181928"/>
            <a:chOff x="0" y="0"/>
            <a:chExt cx="962414" cy="242570"/>
          </a:xfrm>
        </p:grpSpPr>
        <p:grpSp>
          <p:nvGrpSpPr>
            <p:cNvPr id="16" name="Group 16"/>
            <p:cNvGrpSpPr/>
            <p:nvPr/>
          </p:nvGrpSpPr>
          <p:grpSpPr>
            <a:xfrm>
              <a:off x="0" y="0"/>
              <a:ext cx="242570" cy="242570"/>
              <a:chOff x="0" y="0"/>
              <a:chExt cx="130677" cy="130677"/>
            </a:xfrm>
          </p:grpSpPr>
          <p:sp>
            <p:nvSpPr>
              <p:cNvPr id="17" name="Freeform 17"/>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8" name="TextBox 18"/>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9" name="Group 19"/>
            <p:cNvGrpSpPr/>
            <p:nvPr/>
          </p:nvGrpSpPr>
          <p:grpSpPr>
            <a:xfrm>
              <a:off x="356870" y="0"/>
              <a:ext cx="242570" cy="242570"/>
              <a:chOff x="0" y="0"/>
              <a:chExt cx="130677" cy="130677"/>
            </a:xfrm>
          </p:grpSpPr>
          <p:sp>
            <p:nvSpPr>
              <p:cNvPr id="20" name="Freeform 20"/>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1" name="TextBox 21"/>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2" name="Group 22"/>
            <p:cNvGrpSpPr/>
            <p:nvPr/>
          </p:nvGrpSpPr>
          <p:grpSpPr>
            <a:xfrm>
              <a:off x="719844" y="0"/>
              <a:ext cx="242570" cy="242570"/>
              <a:chOff x="0" y="0"/>
              <a:chExt cx="130677" cy="130677"/>
            </a:xfrm>
          </p:grpSpPr>
          <p:sp>
            <p:nvSpPr>
              <p:cNvPr id="23" name="Freeform 23"/>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4" name="TextBox 24"/>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5" name="Freeform 25"/>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6" name="Freeform 26"/>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
        <p:nvSpPr>
          <p:cNvPr id="27" name="TextBox 27"/>
          <p:cNvSpPr txBox="1"/>
          <p:nvPr/>
        </p:nvSpPr>
        <p:spPr>
          <a:xfrm>
            <a:off x="9572976" y="1813099"/>
            <a:ext cx="6137998" cy="9671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Etudes cl</a:t>
            </a:r>
            <a:r>
              <a:rPr lang="en-US" sz="5999" b="1" u="none" strike="noStrike">
                <a:solidFill>
                  <a:srgbClr val="50298E"/>
                </a:solidFill>
                <a:latin typeface="Akzidenz-Grotesk Medium"/>
                <a:ea typeface="Akzidenz-Grotesk Medium"/>
                <a:cs typeface="Akzidenz-Grotesk Medium"/>
                <a:sym typeface="Akzidenz-Grotesk Medium"/>
              </a:rPr>
              <a:t>iniques </a:t>
            </a:r>
          </a:p>
        </p:txBody>
      </p:sp>
      <p:sp>
        <p:nvSpPr>
          <p:cNvPr id="28" name="TextBox 28"/>
          <p:cNvSpPr txBox="1"/>
          <p:nvPr/>
        </p:nvSpPr>
        <p:spPr>
          <a:xfrm>
            <a:off x="10125835" y="4004917"/>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Gesti</a:t>
            </a:r>
            <a:r>
              <a:rPr lang="en-US" sz="2000" b="1" u="none" strike="noStrike">
                <a:solidFill>
                  <a:srgbClr val="000000"/>
                </a:solidFill>
                <a:latin typeface="Libre Franklin Medium"/>
                <a:ea typeface="Libre Franklin Medium"/>
                <a:cs typeface="Libre Franklin Medium"/>
                <a:sym typeface="Libre Franklin Medium"/>
              </a:rPr>
              <a:t>on réglementaire : </a:t>
            </a:r>
            <a:r>
              <a:rPr lang="en-US" sz="2000" u="none" strike="noStrike">
                <a:solidFill>
                  <a:srgbClr val="000000"/>
                </a:solidFill>
                <a:latin typeface="Libre Franklin"/>
                <a:ea typeface="Libre Franklin"/>
                <a:cs typeface="Libre Franklin"/>
                <a:sym typeface="Libre Franklin"/>
              </a:rPr>
              <a:t>préparation des documents réglementaires et soumission.</a:t>
            </a:r>
          </a:p>
        </p:txBody>
      </p:sp>
      <p:sp>
        <p:nvSpPr>
          <p:cNvPr id="29" name="TextBox 29"/>
          <p:cNvSpPr txBox="1"/>
          <p:nvPr/>
        </p:nvSpPr>
        <p:spPr>
          <a:xfrm>
            <a:off x="10125835" y="4992801"/>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Opérati</a:t>
            </a:r>
            <a:r>
              <a:rPr lang="en-US" sz="2000" b="1" u="none" strike="noStrike">
                <a:solidFill>
                  <a:srgbClr val="000000"/>
                </a:solidFill>
                <a:latin typeface="Libre Franklin Medium"/>
                <a:ea typeface="Libre Franklin Medium"/>
                <a:cs typeface="Libre Franklin Medium"/>
                <a:sym typeface="Libre Franklin Medium"/>
              </a:rPr>
              <a:t>ons cliniques : </a:t>
            </a:r>
            <a:r>
              <a:rPr lang="en-US" sz="2000" u="none" strike="noStrike">
                <a:solidFill>
                  <a:srgbClr val="000000"/>
                </a:solidFill>
                <a:latin typeface="Libre Franklin"/>
                <a:ea typeface="Libre Franklin"/>
                <a:cs typeface="Libre Franklin"/>
                <a:sym typeface="Libre Franklin"/>
              </a:rPr>
              <a:t>élaboration de protocoles, sélection de sites, mise en place et logistique.</a:t>
            </a:r>
          </a:p>
        </p:txBody>
      </p:sp>
      <p:sp>
        <p:nvSpPr>
          <p:cNvPr id="30" name="TextBox 30"/>
          <p:cNvSpPr txBox="1"/>
          <p:nvPr/>
        </p:nvSpPr>
        <p:spPr>
          <a:xfrm>
            <a:off x="10125835" y="5983400"/>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M</a:t>
            </a:r>
            <a:r>
              <a:rPr lang="en-US" sz="2000" b="1" u="none" strike="noStrike">
                <a:solidFill>
                  <a:srgbClr val="000000"/>
                </a:solidFill>
                <a:latin typeface="Libre Franklin Medium"/>
                <a:ea typeface="Libre Franklin Medium"/>
                <a:cs typeface="Libre Franklin Medium"/>
                <a:sym typeface="Libre Franklin Medium"/>
              </a:rPr>
              <a:t>onitoring : </a:t>
            </a:r>
            <a:r>
              <a:rPr lang="en-US" sz="2000" u="none" strike="noStrike">
                <a:solidFill>
                  <a:srgbClr val="000000"/>
                </a:solidFill>
                <a:latin typeface="Libre Franklin"/>
                <a:ea typeface="Libre Franklin"/>
                <a:cs typeface="Libre Franklin"/>
                <a:sym typeface="Libre Franklin"/>
              </a:rPr>
              <a:t>coordination, surveillance et assurance qualité. </a:t>
            </a:r>
          </a:p>
        </p:txBody>
      </p:sp>
      <p:sp>
        <p:nvSpPr>
          <p:cNvPr id="31" name="TextBox 31"/>
          <p:cNvSpPr txBox="1"/>
          <p:nvPr/>
        </p:nvSpPr>
        <p:spPr>
          <a:xfrm>
            <a:off x="10125835" y="6592999"/>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Data</a:t>
            </a:r>
            <a:r>
              <a:rPr lang="en-US" sz="2000" b="1" u="none" strike="noStrike">
                <a:solidFill>
                  <a:srgbClr val="000000"/>
                </a:solidFill>
                <a:latin typeface="Libre Franklin Medium"/>
                <a:ea typeface="Libre Franklin Medium"/>
                <a:cs typeface="Libre Franklin Medium"/>
                <a:sym typeface="Libre Franklin Medium"/>
              </a:rPr>
              <a:t> management et analyse bio-statistiques:</a:t>
            </a:r>
            <a:r>
              <a:rPr lang="en-US" sz="2000" u="none" strike="noStrike">
                <a:solidFill>
                  <a:srgbClr val="000000"/>
                </a:solidFill>
                <a:latin typeface="Libre Franklin"/>
                <a:ea typeface="Libre Franklin"/>
                <a:cs typeface="Libre Franklin"/>
                <a:sym typeface="Libre Franklin"/>
              </a:rPr>
              <a:t> collecte et analyse de données.</a:t>
            </a:r>
          </a:p>
        </p:txBody>
      </p:sp>
      <p:sp>
        <p:nvSpPr>
          <p:cNvPr id="32" name="TextBox 32"/>
          <p:cNvSpPr txBox="1"/>
          <p:nvPr/>
        </p:nvSpPr>
        <p:spPr>
          <a:xfrm>
            <a:off x="10125835" y="7583598"/>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R</a:t>
            </a:r>
            <a:r>
              <a:rPr lang="en-US" sz="2000" b="1" u="none" strike="noStrike">
                <a:solidFill>
                  <a:srgbClr val="000000"/>
                </a:solidFill>
                <a:latin typeface="Libre Franklin Medium"/>
                <a:ea typeface="Libre Franklin Medium"/>
                <a:cs typeface="Libre Franklin Medium"/>
                <a:sym typeface="Libre Franklin Medium"/>
              </a:rPr>
              <a:t>apport final et Pharmacovigilance.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311826"/>
            <a:chOff x="0" y="0"/>
            <a:chExt cx="385452" cy="299551"/>
          </a:xfrm>
        </p:grpSpPr>
        <p:sp>
          <p:nvSpPr>
            <p:cNvPr id="3" name="Freeform 3"/>
            <p:cNvSpPr/>
            <p:nvPr/>
          </p:nvSpPr>
          <p:spPr>
            <a:xfrm>
              <a:off x="0" y="0"/>
              <a:ext cx="385452" cy="299551"/>
            </a:xfrm>
            <a:custGeom>
              <a:avLst/>
              <a:gdLst/>
              <a:ahLst/>
              <a:cxnLst/>
              <a:rect l="l" t="t" r="r" b="b"/>
              <a:pathLst>
                <a:path w="385452" h="299551">
                  <a:moveTo>
                    <a:pt x="18123" y="0"/>
                  </a:moveTo>
                  <a:lnTo>
                    <a:pt x="367329" y="0"/>
                  </a:lnTo>
                  <a:cubicBezTo>
                    <a:pt x="377338" y="0"/>
                    <a:pt x="385452" y="8114"/>
                    <a:pt x="385452" y="18123"/>
                  </a:cubicBezTo>
                  <a:lnTo>
                    <a:pt x="385452" y="281428"/>
                  </a:lnTo>
                  <a:cubicBezTo>
                    <a:pt x="385452" y="291437"/>
                    <a:pt x="377338" y="299551"/>
                    <a:pt x="367329" y="299551"/>
                  </a:cubicBezTo>
                  <a:lnTo>
                    <a:pt x="18123" y="299551"/>
                  </a:lnTo>
                  <a:cubicBezTo>
                    <a:pt x="8114" y="299551"/>
                    <a:pt x="0" y="291437"/>
                    <a:pt x="0" y="281428"/>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37651"/>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6466197"/>
            <a:chOff x="0" y="0"/>
            <a:chExt cx="929455" cy="1001783"/>
          </a:xfrm>
        </p:grpSpPr>
        <p:sp>
          <p:nvSpPr>
            <p:cNvPr id="9" name="Freeform 9"/>
            <p:cNvSpPr/>
            <p:nvPr/>
          </p:nvSpPr>
          <p:spPr>
            <a:xfrm>
              <a:off x="0" y="0"/>
              <a:ext cx="929455" cy="1001783"/>
            </a:xfrm>
            <a:custGeom>
              <a:avLst/>
              <a:gdLst/>
              <a:ahLst/>
              <a:cxnLst/>
              <a:rect l="l" t="t" r="r" b="b"/>
              <a:pathLst>
                <a:path w="929455" h="1001783">
                  <a:moveTo>
                    <a:pt x="29681" y="0"/>
                  </a:moveTo>
                  <a:lnTo>
                    <a:pt x="899774" y="0"/>
                  </a:lnTo>
                  <a:cubicBezTo>
                    <a:pt x="907646" y="0"/>
                    <a:pt x="915195" y="3127"/>
                    <a:pt x="920762" y="8693"/>
                  </a:cubicBezTo>
                  <a:cubicBezTo>
                    <a:pt x="926328" y="14259"/>
                    <a:pt x="929455" y="21809"/>
                    <a:pt x="929455" y="29681"/>
                  </a:cubicBezTo>
                  <a:lnTo>
                    <a:pt x="929455" y="972102"/>
                  </a:lnTo>
                  <a:cubicBezTo>
                    <a:pt x="929455" y="988495"/>
                    <a:pt x="916166" y="1001783"/>
                    <a:pt x="899774" y="1001783"/>
                  </a:cubicBezTo>
                  <a:lnTo>
                    <a:pt x="29681" y="1001783"/>
                  </a:lnTo>
                  <a:cubicBezTo>
                    <a:pt x="13288" y="1001783"/>
                    <a:pt x="0" y="988495"/>
                    <a:pt x="0" y="972102"/>
                  </a:cubicBezTo>
                  <a:lnTo>
                    <a:pt x="0" y="29681"/>
                  </a:lnTo>
                  <a:cubicBezTo>
                    <a:pt x="0" y="13288"/>
                    <a:pt x="13288" y="0"/>
                    <a:pt x="29681" y="0"/>
                  </a:cubicBezTo>
                  <a:close/>
                </a:path>
              </a:pathLst>
            </a:custGeom>
            <a:blipFill>
              <a:blip r:embed="rId2"/>
              <a:stretch>
                <a:fillRect l="-52543" r="-14256"/>
              </a:stretch>
            </a:blipFill>
            <a:ln cap="rnd">
              <a:noFill/>
              <a:prstDash val="solid"/>
              <a:round/>
            </a:ln>
          </p:spPr>
        </p:sp>
      </p:grpSp>
      <p:sp>
        <p:nvSpPr>
          <p:cNvPr id="10" name="Freeform 10"/>
          <p:cNvSpPr/>
          <p:nvPr/>
        </p:nvSpPr>
        <p:spPr>
          <a:xfrm>
            <a:off x="9572976" y="5031574"/>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5638459"/>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6248058"/>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6857657"/>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9572976" y="7467256"/>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9572976" y="8076855"/>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6" name="Group 16"/>
          <p:cNvGrpSpPr/>
          <p:nvPr/>
        </p:nvGrpSpPr>
        <p:grpSpPr>
          <a:xfrm>
            <a:off x="9572976" y="4161329"/>
            <a:ext cx="721810" cy="181928"/>
            <a:chOff x="0" y="0"/>
            <a:chExt cx="962414" cy="242570"/>
          </a:xfrm>
        </p:grpSpPr>
        <p:grpSp>
          <p:nvGrpSpPr>
            <p:cNvPr id="17" name="Group 17"/>
            <p:cNvGrpSpPr/>
            <p:nvPr/>
          </p:nvGrpSpPr>
          <p:grpSpPr>
            <a:xfrm>
              <a:off x="0" y="0"/>
              <a:ext cx="242570" cy="242570"/>
              <a:chOff x="0" y="0"/>
              <a:chExt cx="130677" cy="130677"/>
            </a:xfrm>
          </p:grpSpPr>
          <p:sp>
            <p:nvSpPr>
              <p:cNvPr id="18" name="Freeform 1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9" name="TextBox 1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0" name="Group 20"/>
            <p:cNvGrpSpPr/>
            <p:nvPr/>
          </p:nvGrpSpPr>
          <p:grpSpPr>
            <a:xfrm>
              <a:off x="356870" y="0"/>
              <a:ext cx="242570" cy="242570"/>
              <a:chOff x="0" y="0"/>
              <a:chExt cx="130677" cy="130677"/>
            </a:xfrm>
          </p:grpSpPr>
          <p:sp>
            <p:nvSpPr>
              <p:cNvPr id="21" name="Freeform 21"/>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2" name="TextBox 22"/>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3" name="Group 23"/>
            <p:cNvGrpSpPr/>
            <p:nvPr/>
          </p:nvGrpSpPr>
          <p:grpSpPr>
            <a:xfrm>
              <a:off x="719844" y="0"/>
              <a:ext cx="242570" cy="242570"/>
              <a:chOff x="0" y="0"/>
              <a:chExt cx="130677" cy="130677"/>
            </a:xfrm>
          </p:grpSpPr>
          <p:sp>
            <p:nvSpPr>
              <p:cNvPr id="24" name="Freeform 24"/>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5" name="TextBox 25"/>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6" name="Freeform 26"/>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reeform 27"/>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
        <p:nvSpPr>
          <p:cNvPr id="28" name="TextBox 28"/>
          <p:cNvSpPr txBox="1"/>
          <p:nvPr/>
        </p:nvSpPr>
        <p:spPr>
          <a:xfrm>
            <a:off x="9572976" y="1813099"/>
            <a:ext cx="7031610" cy="17799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Données de vi</a:t>
            </a:r>
            <a:r>
              <a:rPr lang="en-US" sz="5999" b="1" strike="noStrike">
                <a:solidFill>
                  <a:srgbClr val="50298E"/>
                </a:solidFill>
                <a:latin typeface="Akzidenz-Grotesk Medium"/>
                <a:ea typeface="Akzidenz-Grotesk Medium"/>
                <a:cs typeface="Akzidenz-Grotesk Medium"/>
                <a:sym typeface="Akzidenz-Grotesk Medium"/>
              </a:rPr>
              <a:t>e réelle (RWE)</a:t>
            </a:r>
          </a:p>
        </p:txBody>
      </p:sp>
      <p:sp>
        <p:nvSpPr>
          <p:cNvPr id="29" name="TextBox 29"/>
          <p:cNvSpPr txBox="1"/>
          <p:nvPr/>
        </p:nvSpPr>
        <p:spPr>
          <a:xfrm>
            <a:off x="10125835" y="4917423"/>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E</a:t>
            </a:r>
            <a:r>
              <a:rPr lang="en-US" sz="2000" b="1" u="none" strike="noStrike">
                <a:solidFill>
                  <a:srgbClr val="000000"/>
                </a:solidFill>
                <a:latin typeface="Libre Franklin Medium"/>
                <a:ea typeface="Libre Franklin Medium"/>
                <a:cs typeface="Libre Franklin Medium"/>
                <a:sym typeface="Libre Franklin Medium"/>
              </a:rPr>
              <a:t>tudes Phase IV</a:t>
            </a:r>
          </a:p>
        </p:txBody>
      </p:sp>
      <p:sp>
        <p:nvSpPr>
          <p:cNvPr id="30" name="TextBox 30"/>
          <p:cNvSpPr txBox="1"/>
          <p:nvPr/>
        </p:nvSpPr>
        <p:spPr>
          <a:xfrm>
            <a:off x="10125835" y="5524308"/>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Et</a:t>
            </a:r>
            <a:r>
              <a:rPr lang="en-US" sz="2000" b="1" u="none" strike="noStrike">
                <a:solidFill>
                  <a:srgbClr val="000000"/>
                </a:solidFill>
                <a:latin typeface="Libre Franklin Medium"/>
                <a:ea typeface="Libre Franklin Medium"/>
                <a:cs typeface="Libre Franklin Medium"/>
                <a:sym typeface="Libre Franklin Medium"/>
              </a:rPr>
              <a:t>udes observationnelles</a:t>
            </a:r>
          </a:p>
        </p:txBody>
      </p:sp>
      <p:sp>
        <p:nvSpPr>
          <p:cNvPr id="31" name="TextBox 31"/>
          <p:cNvSpPr txBox="1"/>
          <p:nvPr/>
        </p:nvSpPr>
        <p:spPr>
          <a:xfrm>
            <a:off x="10125835" y="6133907"/>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Reg</a:t>
            </a:r>
            <a:r>
              <a:rPr lang="en-US" sz="2000" b="1" u="none" strike="noStrike">
                <a:solidFill>
                  <a:srgbClr val="000000"/>
                </a:solidFill>
                <a:latin typeface="Libre Franklin Medium"/>
                <a:ea typeface="Libre Franklin Medium"/>
                <a:cs typeface="Libre Franklin Medium"/>
                <a:sym typeface="Libre Franklin Medium"/>
              </a:rPr>
              <a:t>istre patients </a:t>
            </a:r>
          </a:p>
        </p:txBody>
      </p:sp>
      <p:sp>
        <p:nvSpPr>
          <p:cNvPr id="32" name="TextBox 32"/>
          <p:cNvSpPr txBox="1"/>
          <p:nvPr/>
        </p:nvSpPr>
        <p:spPr>
          <a:xfrm>
            <a:off x="10125835" y="6743506"/>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Qu</a:t>
            </a:r>
            <a:r>
              <a:rPr lang="en-US" sz="2000" b="1" u="none" strike="noStrike">
                <a:solidFill>
                  <a:srgbClr val="000000"/>
                </a:solidFill>
                <a:latin typeface="Libre Franklin Medium"/>
                <a:ea typeface="Libre Franklin Medium"/>
                <a:cs typeface="Libre Franklin Medium"/>
                <a:sym typeface="Libre Franklin Medium"/>
              </a:rPr>
              <a:t>estionnaires et enquêtes patients</a:t>
            </a:r>
          </a:p>
        </p:txBody>
      </p:sp>
      <p:sp>
        <p:nvSpPr>
          <p:cNvPr id="33" name="TextBox 33"/>
          <p:cNvSpPr txBox="1"/>
          <p:nvPr/>
        </p:nvSpPr>
        <p:spPr>
          <a:xfrm>
            <a:off x="10125835" y="7353105"/>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u="none" strike="noStrike">
                <a:solidFill>
                  <a:srgbClr val="000000"/>
                </a:solidFill>
                <a:latin typeface="Libre Franklin Medium"/>
                <a:ea typeface="Libre Franklin Medium"/>
                <a:cs typeface="Libre Franklin Medium"/>
                <a:sym typeface="Libre Franklin Medium"/>
              </a:rPr>
              <a:t>Pharmaco-épidemiologie </a:t>
            </a:r>
          </a:p>
        </p:txBody>
      </p:sp>
      <p:sp>
        <p:nvSpPr>
          <p:cNvPr id="34" name="TextBox 34"/>
          <p:cNvSpPr txBox="1"/>
          <p:nvPr/>
        </p:nvSpPr>
        <p:spPr>
          <a:xfrm>
            <a:off x="10125835" y="7962704"/>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u="none" strike="noStrike">
                <a:solidFill>
                  <a:srgbClr val="000000"/>
                </a:solidFill>
                <a:latin typeface="Libre Franklin Medium"/>
                <a:ea typeface="Libre Franklin Medium"/>
                <a:cs typeface="Libre Franklin Medium"/>
                <a:sym typeface="Libre Franklin Medium"/>
              </a:rPr>
              <a:t>Plan de gestion de risques (PGR ou RMP)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362531"/>
            <a:chOff x="0" y="0"/>
            <a:chExt cx="385452" cy="302411"/>
          </a:xfrm>
        </p:grpSpPr>
        <p:sp>
          <p:nvSpPr>
            <p:cNvPr id="3" name="Freeform 3"/>
            <p:cNvSpPr/>
            <p:nvPr/>
          </p:nvSpPr>
          <p:spPr>
            <a:xfrm>
              <a:off x="0" y="0"/>
              <a:ext cx="385452" cy="302411"/>
            </a:xfrm>
            <a:custGeom>
              <a:avLst/>
              <a:gdLst/>
              <a:ahLst/>
              <a:cxnLst/>
              <a:rect l="l" t="t" r="r" b="b"/>
              <a:pathLst>
                <a:path w="385452" h="302411">
                  <a:moveTo>
                    <a:pt x="18123" y="0"/>
                  </a:moveTo>
                  <a:lnTo>
                    <a:pt x="367329" y="0"/>
                  </a:lnTo>
                  <a:cubicBezTo>
                    <a:pt x="377338" y="0"/>
                    <a:pt x="385452" y="8114"/>
                    <a:pt x="385452" y="18123"/>
                  </a:cubicBezTo>
                  <a:lnTo>
                    <a:pt x="385452" y="284288"/>
                  </a:lnTo>
                  <a:cubicBezTo>
                    <a:pt x="385452" y="294297"/>
                    <a:pt x="377338" y="302411"/>
                    <a:pt x="367329" y="302411"/>
                  </a:cubicBezTo>
                  <a:lnTo>
                    <a:pt x="18123" y="302411"/>
                  </a:lnTo>
                  <a:cubicBezTo>
                    <a:pt x="8114" y="302411"/>
                    <a:pt x="0" y="294297"/>
                    <a:pt x="0" y="284288"/>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40511"/>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5662358"/>
            <a:chOff x="0" y="0"/>
            <a:chExt cx="929455" cy="877247"/>
          </a:xfrm>
        </p:grpSpPr>
        <p:sp>
          <p:nvSpPr>
            <p:cNvPr id="9" name="Freeform 9"/>
            <p:cNvSpPr/>
            <p:nvPr/>
          </p:nvSpPr>
          <p:spPr>
            <a:xfrm>
              <a:off x="0" y="0"/>
              <a:ext cx="929455" cy="877247"/>
            </a:xfrm>
            <a:custGeom>
              <a:avLst/>
              <a:gdLst/>
              <a:ahLst/>
              <a:cxnLst/>
              <a:rect l="l" t="t" r="r" b="b"/>
              <a:pathLst>
                <a:path w="929455" h="877247">
                  <a:moveTo>
                    <a:pt x="29681" y="0"/>
                  </a:moveTo>
                  <a:lnTo>
                    <a:pt x="899774" y="0"/>
                  </a:lnTo>
                  <a:cubicBezTo>
                    <a:pt x="907646" y="0"/>
                    <a:pt x="915195" y="3127"/>
                    <a:pt x="920762" y="8693"/>
                  </a:cubicBezTo>
                  <a:cubicBezTo>
                    <a:pt x="926328" y="14259"/>
                    <a:pt x="929455" y="21809"/>
                    <a:pt x="929455" y="29681"/>
                  </a:cubicBezTo>
                  <a:lnTo>
                    <a:pt x="929455" y="847567"/>
                  </a:lnTo>
                  <a:cubicBezTo>
                    <a:pt x="929455" y="863959"/>
                    <a:pt x="916166" y="877247"/>
                    <a:pt x="899774" y="877247"/>
                  </a:cubicBezTo>
                  <a:lnTo>
                    <a:pt x="29681" y="877247"/>
                  </a:lnTo>
                  <a:cubicBezTo>
                    <a:pt x="13288" y="877247"/>
                    <a:pt x="0" y="863959"/>
                    <a:pt x="0" y="847567"/>
                  </a:cubicBezTo>
                  <a:lnTo>
                    <a:pt x="0" y="29681"/>
                  </a:lnTo>
                  <a:cubicBezTo>
                    <a:pt x="0" y="13288"/>
                    <a:pt x="13288" y="0"/>
                    <a:pt x="29681" y="0"/>
                  </a:cubicBezTo>
                  <a:close/>
                </a:path>
              </a:pathLst>
            </a:custGeom>
            <a:blipFill>
              <a:blip r:embed="rId2"/>
              <a:stretch>
                <a:fillRect l="-46064"/>
              </a:stretch>
            </a:blipFill>
            <a:ln cap="rnd">
              <a:noFill/>
              <a:prstDash val="solid"/>
              <a:round/>
            </a:ln>
          </p:spPr>
        </p:sp>
      </p:grpSp>
      <p:sp>
        <p:nvSpPr>
          <p:cNvPr id="10" name="Freeform 10"/>
          <p:cNvSpPr/>
          <p:nvPr/>
        </p:nvSpPr>
        <p:spPr>
          <a:xfrm>
            <a:off x="9572976" y="5051655"/>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5665561"/>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6275160"/>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7265759"/>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9572976" y="4161329"/>
            <a:ext cx="721810" cy="181928"/>
            <a:chOff x="0" y="0"/>
            <a:chExt cx="962414" cy="242570"/>
          </a:xfrm>
        </p:grpSpPr>
        <p:grpSp>
          <p:nvGrpSpPr>
            <p:cNvPr id="15" name="Group 15"/>
            <p:cNvGrpSpPr/>
            <p:nvPr/>
          </p:nvGrpSpPr>
          <p:grpSpPr>
            <a:xfrm>
              <a:off x="0" y="0"/>
              <a:ext cx="242570" cy="242570"/>
              <a:chOff x="0" y="0"/>
              <a:chExt cx="130677" cy="130677"/>
            </a:xfrm>
          </p:grpSpPr>
          <p:sp>
            <p:nvSpPr>
              <p:cNvPr id="16" name="Freeform 16"/>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7" name="TextBox 17"/>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8" name="Group 18"/>
            <p:cNvGrpSpPr/>
            <p:nvPr/>
          </p:nvGrpSpPr>
          <p:grpSpPr>
            <a:xfrm>
              <a:off x="356870" y="0"/>
              <a:ext cx="242570" cy="242570"/>
              <a:chOff x="0" y="0"/>
              <a:chExt cx="130677" cy="130677"/>
            </a:xfrm>
          </p:grpSpPr>
          <p:sp>
            <p:nvSpPr>
              <p:cNvPr id="19" name="Freeform 19"/>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0" name="TextBox 20"/>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1" name="Group 21"/>
            <p:cNvGrpSpPr/>
            <p:nvPr/>
          </p:nvGrpSpPr>
          <p:grpSpPr>
            <a:xfrm>
              <a:off x="719844" y="0"/>
              <a:ext cx="242570" cy="242570"/>
              <a:chOff x="0" y="0"/>
              <a:chExt cx="130677" cy="130677"/>
            </a:xfrm>
          </p:grpSpPr>
          <p:sp>
            <p:nvSpPr>
              <p:cNvPr id="22" name="Freeform 22"/>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3" name="TextBox 23"/>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4" name="Freeform 24"/>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25"/>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
        <p:nvSpPr>
          <p:cNvPr id="26" name="TextBox 26"/>
          <p:cNvSpPr txBox="1"/>
          <p:nvPr/>
        </p:nvSpPr>
        <p:spPr>
          <a:xfrm>
            <a:off x="9572976" y="1813099"/>
            <a:ext cx="7686324" cy="17799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Etudes pharmaco-économ</a:t>
            </a:r>
            <a:r>
              <a:rPr lang="en-US" sz="5999" b="1" u="none" strike="noStrike">
                <a:solidFill>
                  <a:srgbClr val="50298E"/>
                </a:solidFill>
                <a:latin typeface="Akzidenz-Grotesk Medium"/>
                <a:ea typeface="Akzidenz-Grotesk Medium"/>
                <a:cs typeface="Akzidenz-Grotesk Medium"/>
                <a:sym typeface="Akzidenz-Grotesk Medium"/>
              </a:rPr>
              <a:t>iques</a:t>
            </a:r>
          </a:p>
        </p:txBody>
      </p:sp>
      <p:sp>
        <p:nvSpPr>
          <p:cNvPr id="27" name="TextBox 27"/>
          <p:cNvSpPr txBox="1"/>
          <p:nvPr/>
        </p:nvSpPr>
        <p:spPr>
          <a:xfrm>
            <a:off x="10125835" y="4937504"/>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Rédac</a:t>
            </a:r>
            <a:r>
              <a:rPr lang="en-US" sz="2000" b="1" u="none" strike="noStrike">
                <a:solidFill>
                  <a:srgbClr val="000000"/>
                </a:solidFill>
                <a:latin typeface="Libre Franklin Medium"/>
                <a:ea typeface="Libre Franklin Medium"/>
                <a:cs typeface="Libre Franklin Medium"/>
                <a:sym typeface="Libre Franklin Medium"/>
              </a:rPr>
              <a:t>tion de value dossiers </a:t>
            </a:r>
          </a:p>
        </p:txBody>
      </p:sp>
      <p:sp>
        <p:nvSpPr>
          <p:cNvPr id="28" name="TextBox 28"/>
          <p:cNvSpPr txBox="1"/>
          <p:nvPr/>
        </p:nvSpPr>
        <p:spPr>
          <a:xfrm>
            <a:off x="10125835" y="5551410"/>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Et</a:t>
            </a:r>
            <a:r>
              <a:rPr lang="en-US" sz="2000" b="1" u="none" strike="noStrike">
                <a:solidFill>
                  <a:srgbClr val="000000"/>
                </a:solidFill>
                <a:latin typeface="Libre Franklin Medium"/>
                <a:ea typeface="Libre Franklin Medium"/>
                <a:cs typeface="Libre Franklin Medium"/>
                <a:sym typeface="Libre Franklin Medium"/>
              </a:rPr>
              <a:t>udes descriptives: cost of illness, analyse de coûts</a:t>
            </a:r>
          </a:p>
        </p:txBody>
      </p:sp>
      <p:sp>
        <p:nvSpPr>
          <p:cNvPr id="29" name="TextBox 29"/>
          <p:cNvSpPr txBox="1"/>
          <p:nvPr/>
        </p:nvSpPr>
        <p:spPr>
          <a:xfrm>
            <a:off x="10125835" y="6161009"/>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Concept</a:t>
            </a:r>
            <a:r>
              <a:rPr lang="en-US" sz="2000" b="1" u="none" strike="noStrike">
                <a:solidFill>
                  <a:srgbClr val="000000"/>
                </a:solidFill>
                <a:latin typeface="Libre Franklin Medium"/>
                <a:ea typeface="Libre Franklin Medium"/>
                <a:cs typeface="Libre Franklin Medium"/>
                <a:sym typeface="Libre Franklin Medium"/>
              </a:rPr>
              <a:t>ion de modèles cost-effectiveness, Analyses d’impact budgétaire</a:t>
            </a:r>
          </a:p>
        </p:txBody>
      </p:sp>
      <p:sp>
        <p:nvSpPr>
          <p:cNvPr id="30" name="TextBox 30"/>
          <p:cNvSpPr txBox="1"/>
          <p:nvPr/>
        </p:nvSpPr>
        <p:spPr>
          <a:xfrm>
            <a:off x="10125835" y="7151608"/>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Ad</a:t>
            </a:r>
            <a:r>
              <a:rPr lang="en-US" sz="2000" b="1" u="none" strike="noStrike">
                <a:solidFill>
                  <a:srgbClr val="000000"/>
                </a:solidFill>
                <a:latin typeface="Libre Franklin Medium"/>
                <a:ea typeface="Libre Franklin Medium"/>
                <a:cs typeface="Libre Franklin Medium"/>
                <a:sym typeface="Libre Franklin Medium"/>
              </a:rPr>
              <a:t>aptation de modèles globaux au contexte local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204803"/>
            <a:chOff x="0" y="0"/>
            <a:chExt cx="385452" cy="293516"/>
          </a:xfrm>
        </p:grpSpPr>
        <p:sp>
          <p:nvSpPr>
            <p:cNvPr id="3" name="Freeform 3"/>
            <p:cNvSpPr/>
            <p:nvPr/>
          </p:nvSpPr>
          <p:spPr>
            <a:xfrm>
              <a:off x="0" y="0"/>
              <a:ext cx="385452" cy="293516"/>
            </a:xfrm>
            <a:custGeom>
              <a:avLst/>
              <a:gdLst/>
              <a:ahLst/>
              <a:cxnLst/>
              <a:rect l="l" t="t" r="r" b="b"/>
              <a:pathLst>
                <a:path w="385452" h="293516">
                  <a:moveTo>
                    <a:pt x="18123" y="0"/>
                  </a:moveTo>
                  <a:lnTo>
                    <a:pt x="367329" y="0"/>
                  </a:lnTo>
                  <a:cubicBezTo>
                    <a:pt x="377338" y="0"/>
                    <a:pt x="385452" y="8114"/>
                    <a:pt x="385452" y="18123"/>
                  </a:cubicBezTo>
                  <a:lnTo>
                    <a:pt x="385452" y="275393"/>
                  </a:lnTo>
                  <a:cubicBezTo>
                    <a:pt x="385452" y="285402"/>
                    <a:pt x="377338" y="293516"/>
                    <a:pt x="367329" y="293516"/>
                  </a:cubicBezTo>
                  <a:lnTo>
                    <a:pt x="18123" y="293516"/>
                  </a:lnTo>
                  <a:cubicBezTo>
                    <a:pt x="8114" y="293516"/>
                    <a:pt x="0" y="285402"/>
                    <a:pt x="0" y="275393"/>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31616"/>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5346900"/>
            <a:chOff x="0" y="0"/>
            <a:chExt cx="929455" cy="828375"/>
          </a:xfrm>
        </p:grpSpPr>
        <p:sp>
          <p:nvSpPr>
            <p:cNvPr id="9" name="Freeform 9"/>
            <p:cNvSpPr/>
            <p:nvPr/>
          </p:nvSpPr>
          <p:spPr>
            <a:xfrm>
              <a:off x="0" y="0"/>
              <a:ext cx="929455" cy="828375"/>
            </a:xfrm>
            <a:custGeom>
              <a:avLst/>
              <a:gdLst/>
              <a:ahLst/>
              <a:cxnLst/>
              <a:rect l="l" t="t" r="r" b="b"/>
              <a:pathLst>
                <a:path w="929455" h="828375">
                  <a:moveTo>
                    <a:pt x="29681" y="0"/>
                  </a:moveTo>
                  <a:lnTo>
                    <a:pt x="899774" y="0"/>
                  </a:lnTo>
                  <a:cubicBezTo>
                    <a:pt x="907646" y="0"/>
                    <a:pt x="915195" y="3127"/>
                    <a:pt x="920762" y="8693"/>
                  </a:cubicBezTo>
                  <a:cubicBezTo>
                    <a:pt x="926328" y="14259"/>
                    <a:pt x="929455" y="21809"/>
                    <a:pt x="929455" y="29681"/>
                  </a:cubicBezTo>
                  <a:lnTo>
                    <a:pt x="929455" y="798694"/>
                  </a:lnTo>
                  <a:cubicBezTo>
                    <a:pt x="929455" y="815086"/>
                    <a:pt x="916166" y="828375"/>
                    <a:pt x="899774" y="828375"/>
                  </a:cubicBezTo>
                  <a:lnTo>
                    <a:pt x="29681" y="828375"/>
                  </a:lnTo>
                  <a:cubicBezTo>
                    <a:pt x="13288" y="828375"/>
                    <a:pt x="0" y="815086"/>
                    <a:pt x="0" y="798694"/>
                  </a:cubicBezTo>
                  <a:lnTo>
                    <a:pt x="0" y="29681"/>
                  </a:lnTo>
                  <a:cubicBezTo>
                    <a:pt x="0" y="13288"/>
                    <a:pt x="13288" y="0"/>
                    <a:pt x="29681" y="0"/>
                  </a:cubicBezTo>
                  <a:close/>
                </a:path>
              </a:pathLst>
            </a:custGeom>
            <a:blipFill>
              <a:blip r:embed="rId2"/>
              <a:stretch>
                <a:fillRect l="-37926"/>
              </a:stretch>
            </a:blipFill>
            <a:ln cap="rnd">
              <a:noFill/>
              <a:prstDash val="solid"/>
              <a:round/>
            </a:ln>
          </p:spPr>
        </p:sp>
      </p:grpSp>
      <p:sp>
        <p:nvSpPr>
          <p:cNvPr id="10" name="Freeform 10"/>
          <p:cNvSpPr/>
          <p:nvPr/>
        </p:nvSpPr>
        <p:spPr>
          <a:xfrm>
            <a:off x="9572976" y="5051655"/>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6950301"/>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0144885" y="5627113"/>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sp>
        <p:nvSpPr>
          <p:cNvPr id="13" name="Freeform 13"/>
          <p:cNvSpPr/>
          <p:nvPr/>
        </p:nvSpPr>
        <p:spPr>
          <a:xfrm>
            <a:off x="10144885" y="6037958"/>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sp>
        <p:nvSpPr>
          <p:cNvPr id="14" name="Freeform 14"/>
          <p:cNvSpPr/>
          <p:nvPr/>
        </p:nvSpPr>
        <p:spPr>
          <a:xfrm>
            <a:off x="10144885" y="6453246"/>
            <a:ext cx="243477" cy="121919"/>
          </a:xfrm>
          <a:custGeom>
            <a:avLst/>
            <a:gdLst/>
            <a:ahLst/>
            <a:cxnLst/>
            <a:rect l="l" t="t" r="r" b="b"/>
            <a:pathLst>
              <a:path w="243477" h="121919">
                <a:moveTo>
                  <a:pt x="0" y="0"/>
                </a:moveTo>
                <a:lnTo>
                  <a:pt x="243477" y="0"/>
                </a:lnTo>
                <a:lnTo>
                  <a:pt x="243477" y="121920"/>
                </a:lnTo>
                <a:lnTo>
                  <a:pt x="0" y="121920"/>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grpSp>
        <p:nvGrpSpPr>
          <p:cNvPr id="15" name="Group 15"/>
          <p:cNvGrpSpPr/>
          <p:nvPr/>
        </p:nvGrpSpPr>
        <p:grpSpPr>
          <a:xfrm>
            <a:off x="9572976" y="4160998"/>
            <a:ext cx="721810" cy="181928"/>
            <a:chOff x="0" y="0"/>
            <a:chExt cx="962414" cy="242570"/>
          </a:xfrm>
        </p:grpSpPr>
        <p:grpSp>
          <p:nvGrpSpPr>
            <p:cNvPr id="16" name="Group 16"/>
            <p:cNvGrpSpPr/>
            <p:nvPr/>
          </p:nvGrpSpPr>
          <p:grpSpPr>
            <a:xfrm>
              <a:off x="0" y="0"/>
              <a:ext cx="242570" cy="242570"/>
              <a:chOff x="0" y="0"/>
              <a:chExt cx="130677" cy="130677"/>
            </a:xfrm>
          </p:grpSpPr>
          <p:sp>
            <p:nvSpPr>
              <p:cNvPr id="17" name="Freeform 17"/>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8" name="TextBox 18"/>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9" name="Group 19"/>
            <p:cNvGrpSpPr/>
            <p:nvPr/>
          </p:nvGrpSpPr>
          <p:grpSpPr>
            <a:xfrm>
              <a:off x="356870" y="0"/>
              <a:ext cx="242570" cy="242570"/>
              <a:chOff x="0" y="0"/>
              <a:chExt cx="130677" cy="130677"/>
            </a:xfrm>
          </p:grpSpPr>
          <p:sp>
            <p:nvSpPr>
              <p:cNvPr id="20" name="Freeform 20"/>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1" name="TextBox 21"/>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2" name="Group 22"/>
            <p:cNvGrpSpPr/>
            <p:nvPr/>
          </p:nvGrpSpPr>
          <p:grpSpPr>
            <a:xfrm>
              <a:off x="719844" y="0"/>
              <a:ext cx="242570" cy="242570"/>
              <a:chOff x="0" y="0"/>
              <a:chExt cx="130677" cy="130677"/>
            </a:xfrm>
          </p:grpSpPr>
          <p:sp>
            <p:nvSpPr>
              <p:cNvPr id="23" name="Freeform 23"/>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4" name="TextBox 24"/>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5" name="Freeform 25"/>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6" name="Freeform 26"/>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sp>
      <p:sp>
        <p:nvSpPr>
          <p:cNvPr id="27" name="TextBox 27"/>
          <p:cNvSpPr txBox="1"/>
          <p:nvPr/>
        </p:nvSpPr>
        <p:spPr>
          <a:xfrm>
            <a:off x="9572976" y="1813099"/>
            <a:ext cx="7338511" cy="17799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Accompagnement pat</a:t>
            </a:r>
            <a:r>
              <a:rPr lang="en-US" sz="5999" b="1" u="none" strike="noStrike">
                <a:solidFill>
                  <a:srgbClr val="50298E"/>
                </a:solidFill>
                <a:latin typeface="Akzidenz-Grotesk Medium"/>
                <a:ea typeface="Akzidenz-Grotesk Medium"/>
                <a:cs typeface="Akzidenz-Grotesk Medium"/>
                <a:sym typeface="Akzidenz-Grotesk Medium"/>
              </a:rPr>
              <a:t>ients</a:t>
            </a:r>
          </a:p>
        </p:txBody>
      </p:sp>
      <p:sp>
        <p:nvSpPr>
          <p:cNvPr id="28" name="TextBox 28"/>
          <p:cNvSpPr txBox="1"/>
          <p:nvPr/>
        </p:nvSpPr>
        <p:spPr>
          <a:xfrm>
            <a:off x="10125835" y="4937504"/>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Pa</a:t>
            </a:r>
            <a:r>
              <a:rPr lang="en-US" sz="2000" b="1" u="none" strike="noStrike">
                <a:solidFill>
                  <a:srgbClr val="000000"/>
                </a:solidFill>
                <a:latin typeface="Libre Franklin Medium"/>
                <a:ea typeface="Libre Franklin Medium"/>
                <a:cs typeface="Libre Franklin Medium"/>
                <a:sym typeface="Libre Franklin Medium"/>
              </a:rPr>
              <a:t>tients Support Programs </a:t>
            </a:r>
          </a:p>
        </p:txBody>
      </p:sp>
      <p:sp>
        <p:nvSpPr>
          <p:cNvPr id="29" name="TextBox 29"/>
          <p:cNvSpPr txBox="1"/>
          <p:nvPr/>
        </p:nvSpPr>
        <p:spPr>
          <a:xfrm>
            <a:off x="10462926" y="5509003"/>
            <a:ext cx="3566733" cy="300989"/>
          </a:xfrm>
          <a:prstGeom prst="rect">
            <a:avLst/>
          </a:prstGeom>
        </p:spPr>
        <p:txBody>
          <a:bodyPr lIns="0" tIns="0" rIns="0" bIns="0" rtlCol="0" anchor="t">
            <a:spAutoFit/>
          </a:bodyPr>
          <a:lstStyle/>
          <a:p>
            <a:pPr marL="0" lvl="0" indent="0" algn="l">
              <a:lnSpc>
                <a:spcPts val="2400"/>
              </a:lnSpc>
              <a:spcBef>
                <a:spcPct val="0"/>
              </a:spcBef>
            </a:pPr>
            <a:r>
              <a:rPr lang="en-US" sz="1600" u="none" strike="noStrike">
                <a:solidFill>
                  <a:srgbClr val="000000"/>
                </a:solidFill>
                <a:latin typeface="Libre Franklin"/>
                <a:ea typeface="Libre Franklin"/>
                <a:cs typeface="Libre Franklin"/>
                <a:sym typeface="Libre Franklin"/>
              </a:rPr>
              <a:t>Education et formation des patients</a:t>
            </a:r>
          </a:p>
        </p:txBody>
      </p:sp>
      <p:sp>
        <p:nvSpPr>
          <p:cNvPr id="30" name="TextBox 30"/>
          <p:cNvSpPr txBox="1"/>
          <p:nvPr/>
        </p:nvSpPr>
        <p:spPr>
          <a:xfrm>
            <a:off x="10462926" y="5919848"/>
            <a:ext cx="2881893" cy="300989"/>
          </a:xfrm>
          <a:prstGeom prst="rect">
            <a:avLst/>
          </a:prstGeom>
        </p:spPr>
        <p:txBody>
          <a:bodyPr lIns="0" tIns="0" rIns="0" bIns="0" rtlCol="0" anchor="t">
            <a:spAutoFit/>
          </a:bodyPr>
          <a:lstStyle/>
          <a:p>
            <a:pPr marL="0" lvl="0" indent="0" algn="l">
              <a:lnSpc>
                <a:spcPts val="2400"/>
              </a:lnSpc>
              <a:spcBef>
                <a:spcPct val="0"/>
              </a:spcBef>
            </a:pPr>
            <a:r>
              <a:rPr lang="en-US" sz="1600" u="none" strike="noStrike">
                <a:solidFill>
                  <a:srgbClr val="000000"/>
                </a:solidFill>
                <a:latin typeface="Libre Franklin"/>
                <a:ea typeface="Libre Franklin"/>
                <a:cs typeface="Libre Franklin"/>
                <a:sym typeface="Libre Franklin"/>
              </a:rPr>
              <a:t>Support à l’observance</a:t>
            </a:r>
          </a:p>
        </p:txBody>
      </p:sp>
      <p:sp>
        <p:nvSpPr>
          <p:cNvPr id="31" name="TextBox 31"/>
          <p:cNvSpPr txBox="1"/>
          <p:nvPr/>
        </p:nvSpPr>
        <p:spPr>
          <a:xfrm>
            <a:off x="10125835" y="6836150"/>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Inform</a:t>
            </a:r>
            <a:r>
              <a:rPr lang="en-US" sz="2000" b="1" u="none" strike="noStrike">
                <a:solidFill>
                  <a:srgbClr val="000000"/>
                </a:solidFill>
                <a:latin typeface="Libre Franklin Medium"/>
                <a:ea typeface="Libre Franklin Medium"/>
                <a:cs typeface="Libre Franklin Medium"/>
                <a:sym typeface="Libre Franklin Medium"/>
              </a:rPr>
              <a:t>ation grand public</a:t>
            </a:r>
          </a:p>
        </p:txBody>
      </p:sp>
      <p:sp>
        <p:nvSpPr>
          <p:cNvPr id="32" name="TextBox 32"/>
          <p:cNvSpPr txBox="1"/>
          <p:nvPr/>
        </p:nvSpPr>
        <p:spPr>
          <a:xfrm>
            <a:off x="10462926" y="6335137"/>
            <a:ext cx="3289086" cy="300989"/>
          </a:xfrm>
          <a:prstGeom prst="rect">
            <a:avLst/>
          </a:prstGeom>
        </p:spPr>
        <p:txBody>
          <a:bodyPr lIns="0" tIns="0" rIns="0" bIns="0" rtlCol="0" anchor="t">
            <a:spAutoFit/>
          </a:bodyPr>
          <a:lstStyle/>
          <a:p>
            <a:pPr marL="0" lvl="0" indent="0" algn="l">
              <a:lnSpc>
                <a:spcPts val="2400"/>
              </a:lnSpc>
              <a:spcBef>
                <a:spcPct val="0"/>
              </a:spcBef>
            </a:pPr>
            <a:r>
              <a:rPr lang="en-US" sz="1600" u="none" strike="noStrike">
                <a:solidFill>
                  <a:srgbClr val="000000"/>
                </a:solidFill>
                <a:latin typeface="Libre Franklin"/>
                <a:ea typeface="Libre Franklin"/>
                <a:cs typeface="Libre Franklin"/>
                <a:sym typeface="Libre Franklin"/>
              </a:rPr>
              <a:t>Assistance logistique: Call center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168871"/>
            <a:chOff x="0" y="0"/>
            <a:chExt cx="385452" cy="291489"/>
          </a:xfrm>
        </p:grpSpPr>
        <p:sp>
          <p:nvSpPr>
            <p:cNvPr id="3" name="Freeform 3"/>
            <p:cNvSpPr/>
            <p:nvPr/>
          </p:nvSpPr>
          <p:spPr>
            <a:xfrm>
              <a:off x="0" y="0"/>
              <a:ext cx="385452" cy="291489"/>
            </a:xfrm>
            <a:custGeom>
              <a:avLst/>
              <a:gdLst/>
              <a:ahLst/>
              <a:cxnLst/>
              <a:rect l="l" t="t" r="r" b="b"/>
              <a:pathLst>
                <a:path w="385452" h="291489">
                  <a:moveTo>
                    <a:pt x="18123" y="0"/>
                  </a:moveTo>
                  <a:lnTo>
                    <a:pt x="367329" y="0"/>
                  </a:lnTo>
                  <a:cubicBezTo>
                    <a:pt x="377338" y="0"/>
                    <a:pt x="385452" y="8114"/>
                    <a:pt x="385452" y="18123"/>
                  </a:cubicBezTo>
                  <a:lnTo>
                    <a:pt x="385452" y="273367"/>
                  </a:lnTo>
                  <a:cubicBezTo>
                    <a:pt x="385452" y="283376"/>
                    <a:pt x="377338" y="291489"/>
                    <a:pt x="367329" y="291489"/>
                  </a:cubicBezTo>
                  <a:lnTo>
                    <a:pt x="18123" y="291489"/>
                  </a:lnTo>
                  <a:cubicBezTo>
                    <a:pt x="8114" y="291489"/>
                    <a:pt x="0" y="283376"/>
                    <a:pt x="0" y="273367"/>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29589"/>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5275037"/>
            <a:chOff x="0" y="0"/>
            <a:chExt cx="929455" cy="817241"/>
          </a:xfrm>
        </p:grpSpPr>
        <p:sp>
          <p:nvSpPr>
            <p:cNvPr id="9" name="Freeform 9"/>
            <p:cNvSpPr/>
            <p:nvPr/>
          </p:nvSpPr>
          <p:spPr>
            <a:xfrm>
              <a:off x="0" y="0"/>
              <a:ext cx="929455" cy="817241"/>
            </a:xfrm>
            <a:custGeom>
              <a:avLst/>
              <a:gdLst/>
              <a:ahLst/>
              <a:cxnLst/>
              <a:rect l="l" t="t" r="r" b="b"/>
              <a:pathLst>
                <a:path w="929455" h="817241">
                  <a:moveTo>
                    <a:pt x="29681" y="0"/>
                  </a:moveTo>
                  <a:lnTo>
                    <a:pt x="899774" y="0"/>
                  </a:lnTo>
                  <a:cubicBezTo>
                    <a:pt x="907646" y="0"/>
                    <a:pt x="915195" y="3127"/>
                    <a:pt x="920762" y="8693"/>
                  </a:cubicBezTo>
                  <a:cubicBezTo>
                    <a:pt x="926328" y="14259"/>
                    <a:pt x="929455" y="21809"/>
                    <a:pt x="929455" y="29681"/>
                  </a:cubicBezTo>
                  <a:lnTo>
                    <a:pt x="929455" y="787561"/>
                  </a:lnTo>
                  <a:cubicBezTo>
                    <a:pt x="929455" y="803953"/>
                    <a:pt x="916166" y="817241"/>
                    <a:pt x="899774" y="817241"/>
                  </a:cubicBezTo>
                  <a:lnTo>
                    <a:pt x="29681" y="817241"/>
                  </a:lnTo>
                  <a:cubicBezTo>
                    <a:pt x="13288" y="817241"/>
                    <a:pt x="0" y="803953"/>
                    <a:pt x="0" y="787561"/>
                  </a:cubicBezTo>
                  <a:lnTo>
                    <a:pt x="0" y="29681"/>
                  </a:lnTo>
                  <a:cubicBezTo>
                    <a:pt x="0" y="13288"/>
                    <a:pt x="13288" y="0"/>
                    <a:pt x="29681" y="0"/>
                  </a:cubicBezTo>
                  <a:close/>
                </a:path>
              </a:pathLst>
            </a:custGeom>
            <a:blipFill>
              <a:blip r:embed="rId2"/>
              <a:stretch>
                <a:fillRect l="-36073"/>
              </a:stretch>
            </a:blipFill>
            <a:ln cap="rnd">
              <a:noFill/>
              <a:prstDash val="solid"/>
              <a:round/>
            </a:ln>
          </p:spPr>
        </p:sp>
      </p:grpSp>
      <p:sp>
        <p:nvSpPr>
          <p:cNvPr id="10" name="Freeform 10"/>
          <p:cNvSpPr/>
          <p:nvPr/>
        </p:nvSpPr>
        <p:spPr>
          <a:xfrm>
            <a:off x="9572976" y="5051655"/>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5659240"/>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6268839"/>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6878438"/>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9572976" y="4160998"/>
            <a:ext cx="721810" cy="181928"/>
            <a:chOff x="0" y="0"/>
            <a:chExt cx="962414" cy="242570"/>
          </a:xfrm>
        </p:grpSpPr>
        <p:grpSp>
          <p:nvGrpSpPr>
            <p:cNvPr id="15" name="Group 15"/>
            <p:cNvGrpSpPr/>
            <p:nvPr/>
          </p:nvGrpSpPr>
          <p:grpSpPr>
            <a:xfrm>
              <a:off x="0" y="0"/>
              <a:ext cx="242570" cy="242570"/>
              <a:chOff x="0" y="0"/>
              <a:chExt cx="130677" cy="130677"/>
            </a:xfrm>
          </p:grpSpPr>
          <p:sp>
            <p:nvSpPr>
              <p:cNvPr id="16" name="Freeform 16"/>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7" name="TextBox 17"/>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8" name="Group 18"/>
            <p:cNvGrpSpPr/>
            <p:nvPr/>
          </p:nvGrpSpPr>
          <p:grpSpPr>
            <a:xfrm>
              <a:off x="356870" y="0"/>
              <a:ext cx="242570" cy="242570"/>
              <a:chOff x="0" y="0"/>
              <a:chExt cx="130677" cy="130677"/>
            </a:xfrm>
          </p:grpSpPr>
          <p:sp>
            <p:nvSpPr>
              <p:cNvPr id="19" name="Freeform 19"/>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0" name="TextBox 20"/>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1" name="Group 21"/>
            <p:cNvGrpSpPr/>
            <p:nvPr/>
          </p:nvGrpSpPr>
          <p:grpSpPr>
            <a:xfrm>
              <a:off x="719844" y="0"/>
              <a:ext cx="242570" cy="242570"/>
              <a:chOff x="0" y="0"/>
              <a:chExt cx="130677" cy="130677"/>
            </a:xfrm>
          </p:grpSpPr>
          <p:sp>
            <p:nvSpPr>
              <p:cNvPr id="22" name="Freeform 22"/>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3" name="TextBox 23"/>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4" name="Freeform 24"/>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25"/>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
        <p:nvSpPr>
          <p:cNvPr id="26" name="TextBox 26"/>
          <p:cNvSpPr txBox="1"/>
          <p:nvPr/>
        </p:nvSpPr>
        <p:spPr>
          <a:xfrm>
            <a:off x="9572976" y="1813099"/>
            <a:ext cx="7338511" cy="17799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Accompagnement exp</a:t>
            </a:r>
            <a:r>
              <a:rPr lang="en-US" sz="5999" b="1" u="none" strike="noStrike">
                <a:solidFill>
                  <a:srgbClr val="50298E"/>
                </a:solidFill>
                <a:latin typeface="Akzidenz-Grotesk Medium"/>
                <a:ea typeface="Akzidenz-Grotesk Medium"/>
                <a:cs typeface="Akzidenz-Grotesk Medium"/>
                <a:sym typeface="Akzidenz-Grotesk Medium"/>
              </a:rPr>
              <a:t>erts</a:t>
            </a:r>
          </a:p>
        </p:txBody>
      </p:sp>
      <p:sp>
        <p:nvSpPr>
          <p:cNvPr id="27" name="TextBox 27"/>
          <p:cNvSpPr txBox="1"/>
          <p:nvPr/>
        </p:nvSpPr>
        <p:spPr>
          <a:xfrm>
            <a:off x="10125835" y="4937504"/>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Organisa</a:t>
            </a:r>
            <a:r>
              <a:rPr lang="en-US" sz="2000" b="1" u="none" strike="noStrike">
                <a:solidFill>
                  <a:srgbClr val="000000"/>
                </a:solidFill>
                <a:latin typeface="Libre Franklin Medium"/>
                <a:ea typeface="Libre Franklin Medium"/>
                <a:cs typeface="Libre Franklin Medium"/>
                <a:sym typeface="Libre Franklin Medium"/>
              </a:rPr>
              <a:t>tion et gestion d’AdBoards </a:t>
            </a:r>
          </a:p>
        </p:txBody>
      </p:sp>
      <p:sp>
        <p:nvSpPr>
          <p:cNvPr id="28" name="TextBox 28"/>
          <p:cNvSpPr txBox="1"/>
          <p:nvPr/>
        </p:nvSpPr>
        <p:spPr>
          <a:xfrm>
            <a:off x="10125835" y="5545089"/>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Sél</a:t>
            </a:r>
            <a:r>
              <a:rPr lang="en-US" sz="2000" b="1" u="none" strike="noStrike">
                <a:solidFill>
                  <a:srgbClr val="000000"/>
                </a:solidFill>
                <a:latin typeface="Libre Franklin Medium"/>
                <a:ea typeface="Libre Franklin Medium"/>
                <a:cs typeface="Libre Franklin Medium"/>
                <a:sym typeface="Libre Franklin Medium"/>
              </a:rPr>
              <a:t>ection et engagement des experts </a:t>
            </a:r>
          </a:p>
        </p:txBody>
      </p:sp>
      <p:sp>
        <p:nvSpPr>
          <p:cNvPr id="29" name="TextBox 29"/>
          <p:cNvSpPr txBox="1"/>
          <p:nvPr/>
        </p:nvSpPr>
        <p:spPr>
          <a:xfrm>
            <a:off x="10125835" y="6154688"/>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Synth</a:t>
            </a:r>
            <a:r>
              <a:rPr lang="en-US" sz="2000" b="1" u="none" strike="noStrike">
                <a:solidFill>
                  <a:srgbClr val="000000"/>
                </a:solidFill>
                <a:latin typeface="Libre Franklin Medium"/>
                <a:ea typeface="Libre Franklin Medium"/>
                <a:cs typeface="Libre Franklin Medium"/>
                <a:sym typeface="Libre Franklin Medium"/>
              </a:rPr>
              <a:t>èses et communication de recommandations</a:t>
            </a:r>
          </a:p>
        </p:txBody>
      </p:sp>
      <p:sp>
        <p:nvSpPr>
          <p:cNvPr id="30" name="TextBox 30"/>
          <p:cNvSpPr txBox="1"/>
          <p:nvPr/>
        </p:nvSpPr>
        <p:spPr>
          <a:xfrm>
            <a:off x="10125835" y="6764287"/>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Sou</a:t>
            </a:r>
            <a:r>
              <a:rPr lang="en-US" sz="2000" b="1" u="none" strike="noStrike">
                <a:solidFill>
                  <a:srgbClr val="000000"/>
                </a:solidFill>
                <a:latin typeface="Libre Franklin Medium"/>
                <a:ea typeface="Libre Franklin Medium"/>
                <a:cs typeface="Libre Franklin Medium"/>
                <a:sym typeface="Libre Franklin Medium"/>
              </a:rPr>
              <a:t>tien aux investigateurs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5040364"/>
            <a:chOff x="0" y="0"/>
            <a:chExt cx="385452" cy="284243"/>
          </a:xfrm>
        </p:grpSpPr>
        <p:sp>
          <p:nvSpPr>
            <p:cNvPr id="3" name="Freeform 3"/>
            <p:cNvSpPr/>
            <p:nvPr/>
          </p:nvSpPr>
          <p:spPr>
            <a:xfrm>
              <a:off x="0" y="0"/>
              <a:ext cx="385452" cy="284243"/>
            </a:xfrm>
            <a:custGeom>
              <a:avLst/>
              <a:gdLst/>
              <a:ahLst/>
              <a:cxnLst/>
              <a:rect l="l" t="t" r="r" b="b"/>
              <a:pathLst>
                <a:path w="385452" h="284243">
                  <a:moveTo>
                    <a:pt x="18123" y="0"/>
                  </a:moveTo>
                  <a:lnTo>
                    <a:pt x="367329" y="0"/>
                  </a:lnTo>
                  <a:cubicBezTo>
                    <a:pt x="377338" y="0"/>
                    <a:pt x="385452" y="8114"/>
                    <a:pt x="385452" y="18123"/>
                  </a:cubicBezTo>
                  <a:lnTo>
                    <a:pt x="385452" y="266120"/>
                  </a:lnTo>
                  <a:cubicBezTo>
                    <a:pt x="385452" y="276129"/>
                    <a:pt x="377338" y="284243"/>
                    <a:pt x="367329" y="284243"/>
                  </a:cubicBezTo>
                  <a:lnTo>
                    <a:pt x="18123" y="284243"/>
                  </a:lnTo>
                  <a:cubicBezTo>
                    <a:pt x="13316" y="284243"/>
                    <a:pt x="8707" y="282333"/>
                    <a:pt x="5308" y="278934"/>
                  </a:cubicBezTo>
                  <a:cubicBezTo>
                    <a:pt x="1909" y="275536"/>
                    <a:pt x="0" y="270926"/>
                    <a:pt x="0" y="266120"/>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22343"/>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7593673" cy="6883676"/>
            <a:chOff x="0" y="0"/>
            <a:chExt cx="3617662" cy="3279416"/>
          </a:xfrm>
        </p:grpSpPr>
        <p:sp>
          <p:nvSpPr>
            <p:cNvPr id="6" name="Freeform 6"/>
            <p:cNvSpPr/>
            <p:nvPr/>
          </p:nvSpPr>
          <p:spPr>
            <a:xfrm>
              <a:off x="0" y="0"/>
              <a:ext cx="3617662" cy="3279416"/>
            </a:xfrm>
            <a:custGeom>
              <a:avLst/>
              <a:gdLst/>
              <a:ahLst/>
              <a:cxnLst/>
              <a:rect l="l" t="t" r="r" b="b"/>
              <a:pathLst>
                <a:path w="3617662" h="3279416">
                  <a:moveTo>
                    <a:pt x="19371" y="0"/>
                  </a:moveTo>
                  <a:lnTo>
                    <a:pt x="3598291" y="0"/>
                  </a:lnTo>
                  <a:cubicBezTo>
                    <a:pt x="3608989" y="0"/>
                    <a:pt x="3617662" y="8673"/>
                    <a:pt x="3617662" y="19371"/>
                  </a:cubicBezTo>
                  <a:lnTo>
                    <a:pt x="3617662" y="3260045"/>
                  </a:lnTo>
                  <a:cubicBezTo>
                    <a:pt x="3617662" y="3270743"/>
                    <a:pt x="3608989" y="3279416"/>
                    <a:pt x="3598291" y="3279416"/>
                  </a:cubicBezTo>
                  <a:lnTo>
                    <a:pt x="19371" y="3279416"/>
                  </a:lnTo>
                  <a:cubicBezTo>
                    <a:pt x="8673" y="3279416"/>
                    <a:pt x="0" y="3270743"/>
                    <a:pt x="0" y="3260045"/>
                  </a:cubicBezTo>
                  <a:lnTo>
                    <a:pt x="0" y="19371"/>
                  </a:lnTo>
                  <a:cubicBezTo>
                    <a:pt x="0" y="8673"/>
                    <a:pt x="8673" y="0"/>
                    <a:pt x="19371" y="0"/>
                  </a:cubicBezTo>
                  <a:close/>
                </a:path>
              </a:pathLst>
            </a:custGeom>
            <a:solidFill>
              <a:srgbClr val="FFFFFF"/>
            </a:solidFill>
          </p:spPr>
        </p:sp>
        <p:sp>
          <p:nvSpPr>
            <p:cNvPr id="7" name="TextBox 7"/>
            <p:cNvSpPr txBox="1"/>
            <p:nvPr/>
          </p:nvSpPr>
          <p:spPr>
            <a:xfrm>
              <a:off x="0" y="-38100"/>
              <a:ext cx="3617662"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5018024"/>
            <a:chOff x="0" y="0"/>
            <a:chExt cx="929455" cy="777423"/>
          </a:xfrm>
        </p:grpSpPr>
        <p:sp>
          <p:nvSpPr>
            <p:cNvPr id="9" name="Freeform 9"/>
            <p:cNvSpPr/>
            <p:nvPr/>
          </p:nvSpPr>
          <p:spPr>
            <a:xfrm>
              <a:off x="0" y="0"/>
              <a:ext cx="929455" cy="777423"/>
            </a:xfrm>
            <a:custGeom>
              <a:avLst/>
              <a:gdLst/>
              <a:ahLst/>
              <a:cxnLst/>
              <a:rect l="l" t="t" r="r" b="b"/>
              <a:pathLst>
                <a:path w="929455" h="777423">
                  <a:moveTo>
                    <a:pt x="29681" y="0"/>
                  </a:moveTo>
                  <a:lnTo>
                    <a:pt x="899774" y="0"/>
                  </a:lnTo>
                  <a:cubicBezTo>
                    <a:pt x="907646" y="0"/>
                    <a:pt x="915195" y="3127"/>
                    <a:pt x="920762" y="8693"/>
                  </a:cubicBezTo>
                  <a:cubicBezTo>
                    <a:pt x="926328" y="14259"/>
                    <a:pt x="929455" y="21809"/>
                    <a:pt x="929455" y="29681"/>
                  </a:cubicBezTo>
                  <a:lnTo>
                    <a:pt x="929455" y="747743"/>
                  </a:lnTo>
                  <a:cubicBezTo>
                    <a:pt x="929455" y="764135"/>
                    <a:pt x="916166" y="777423"/>
                    <a:pt x="899774" y="777423"/>
                  </a:cubicBezTo>
                  <a:lnTo>
                    <a:pt x="29681" y="777423"/>
                  </a:lnTo>
                  <a:cubicBezTo>
                    <a:pt x="13288" y="777423"/>
                    <a:pt x="0" y="764135"/>
                    <a:pt x="0" y="747743"/>
                  </a:cubicBezTo>
                  <a:lnTo>
                    <a:pt x="0" y="29681"/>
                  </a:lnTo>
                  <a:cubicBezTo>
                    <a:pt x="0" y="13288"/>
                    <a:pt x="13288" y="0"/>
                    <a:pt x="29681" y="0"/>
                  </a:cubicBezTo>
                  <a:close/>
                </a:path>
              </a:pathLst>
            </a:custGeom>
            <a:blipFill>
              <a:blip r:embed="rId2"/>
              <a:stretch>
                <a:fillRect l="-14721" r="-14721"/>
              </a:stretch>
            </a:blipFill>
            <a:ln cap="rnd">
              <a:noFill/>
              <a:prstDash val="solid"/>
              <a:round/>
            </a:ln>
          </p:spPr>
        </p:sp>
      </p:grpSp>
      <p:sp>
        <p:nvSpPr>
          <p:cNvPr id="10" name="Freeform 10"/>
          <p:cNvSpPr/>
          <p:nvPr/>
        </p:nvSpPr>
        <p:spPr>
          <a:xfrm>
            <a:off x="9572976" y="4034890"/>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5021226"/>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5630826"/>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6621425"/>
            <a:ext cx="355335" cy="250066"/>
          </a:xfrm>
          <a:custGeom>
            <a:avLst/>
            <a:gdLst/>
            <a:ahLst/>
            <a:cxnLst/>
            <a:rect l="l" t="t" r="r" b="b"/>
            <a:pathLst>
              <a:path w="355335" h="250066">
                <a:moveTo>
                  <a:pt x="0" y="0"/>
                </a:moveTo>
                <a:lnTo>
                  <a:pt x="355335" y="0"/>
                </a:lnTo>
                <a:lnTo>
                  <a:pt x="355335" y="250065"/>
                </a:lnTo>
                <a:lnTo>
                  <a:pt x="0" y="2500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9577554" y="3228411"/>
            <a:ext cx="721810" cy="181928"/>
            <a:chOff x="0" y="0"/>
            <a:chExt cx="962414" cy="242570"/>
          </a:xfrm>
        </p:grpSpPr>
        <p:grpSp>
          <p:nvGrpSpPr>
            <p:cNvPr id="15" name="Group 15"/>
            <p:cNvGrpSpPr/>
            <p:nvPr/>
          </p:nvGrpSpPr>
          <p:grpSpPr>
            <a:xfrm>
              <a:off x="0" y="0"/>
              <a:ext cx="242570" cy="242570"/>
              <a:chOff x="0" y="0"/>
              <a:chExt cx="130677" cy="130677"/>
            </a:xfrm>
          </p:grpSpPr>
          <p:sp>
            <p:nvSpPr>
              <p:cNvPr id="16" name="Freeform 16"/>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7" name="TextBox 17"/>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8" name="Group 18"/>
            <p:cNvGrpSpPr/>
            <p:nvPr/>
          </p:nvGrpSpPr>
          <p:grpSpPr>
            <a:xfrm>
              <a:off x="356870" y="0"/>
              <a:ext cx="242570" cy="242570"/>
              <a:chOff x="0" y="0"/>
              <a:chExt cx="130677" cy="130677"/>
            </a:xfrm>
          </p:grpSpPr>
          <p:sp>
            <p:nvSpPr>
              <p:cNvPr id="19" name="Freeform 19"/>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0" name="TextBox 20"/>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1" name="Group 21"/>
            <p:cNvGrpSpPr/>
            <p:nvPr/>
          </p:nvGrpSpPr>
          <p:grpSpPr>
            <a:xfrm>
              <a:off x="719844" y="0"/>
              <a:ext cx="242570" cy="242570"/>
              <a:chOff x="0" y="0"/>
              <a:chExt cx="130677" cy="130677"/>
            </a:xfrm>
          </p:grpSpPr>
          <p:sp>
            <p:nvSpPr>
              <p:cNvPr id="22" name="Freeform 22"/>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3" name="TextBox 23"/>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24" name="Freeform 24"/>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25"/>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
        <p:nvSpPr>
          <p:cNvPr id="26" name="TextBox 26"/>
          <p:cNvSpPr txBox="1"/>
          <p:nvPr/>
        </p:nvSpPr>
        <p:spPr>
          <a:xfrm>
            <a:off x="9572976" y="1813099"/>
            <a:ext cx="7338511" cy="9671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Rédac</a:t>
            </a:r>
            <a:r>
              <a:rPr lang="en-US" sz="5999" b="1" u="none" strike="noStrike">
                <a:solidFill>
                  <a:srgbClr val="50298E"/>
                </a:solidFill>
                <a:latin typeface="Akzidenz-Grotesk Medium"/>
                <a:ea typeface="Akzidenz-Grotesk Medium"/>
                <a:cs typeface="Akzidenz-Grotesk Medium"/>
                <a:sym typeface="Akzidenz-Grotesk Medium"/>
              </a:rPr>
              <a:t>tion médicale</a:t>
            </a:r>
          </a:p>
        </p:txBody>
      </p:sp>
      <p:sp>
        <p:nvSpPr>
          <p:cNvPr id="27" name="TextBox 27"/>
          <p:cNvSpPr txBox="1"/>
          <p:nvPr/>
        </p:nvSpPr>
        <p:spPr>
          <a:xfrm>
            <a:off x="10125835" y="3920739"/>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Ges</a:t>
            </a:r>
            <a:r>
              <a:rPr lang="en-US" sz="2000" b="1" u="none" strike="noStrike">
                <a:solidFill>
                  <a:srgbClr val="000000"/>
                </a:solidFill>
                <a:latin typeface="Libre Franklin Medium"/>
                <a:ea typeface="Libre Franklin Medium"/>
                <a:cs typeface="Libre Franklin Medium"/>
                <a:sym typeface="Libre Franklin Medium"/>
              </a:rPr>
              <a:t>tion des publications et des communications scientifiques </a:t>
            </a:r>
          </a:p>
        </p:txBody>
      </p:sp>
      <p:sp>
        <p:nvSpPr>
          <p:cNvPr id="28" name="TextBox 28"/>
          <p:cNvSpPr txBox="1"/>
          <p:nvPr/>
        </p:nvSpPr>
        <p:spPr>
          <a:xfrm>
            <a:off x="10125835" y="4907076"/>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Stratégie </a:t>
            </a:r>
            <a:r>
              <a:rPr lang="en-US" sz="2000" b="1" u="none" strike="noStrike">
                <a:solidFill>
                  <a:srgbClr val="000000"/>
                </a:solidFill>
                <a:latin typeface="Libre Franklin Medium"/>
                <a:ea typeface="Libre Franklin Medium"/>
                <a:cs typeface="Libre Franklin Medium"/>
                <a:sym typeface="Libre Franklin Medium"/>
              </a:rPr>
              <a:t>de publication</a:t>
            </a:r>
          </a:p>
        </p:txBody>
      </p:sp>
      <p:sp>
        <p:nvSpPr>
          <p:cNvPr id="29" name="TextBox 29"/>
          <p:cNvSpPr txBox="1"/>
          <p:nvPr/>
        </p:nvSpPr>
        <p:spPr>
          <a:xfrm>
            <a:off x="10125835" y="5516675"/>
            <a:ext cx="7133465" cy="752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Rédaction et soum</a:t>
            </a:r>
            <a:r>
              <a:rPr lang="en-US" sz="2000" b="1" u="none" strike="noStrike">
                <a:solidFill>
                  <a:srgbClr val="000000"/>
                </a:solidFill>
                <a:latin typeface="Libre Franklin Medium"/>
                <a:ea typeface="Libre Franklin Medium"/>
                <a:cs typeface="Libre Franklin Medium"/>
                <a:sym typeface="Libre Franklin Medium"/>
              </a:rPr>
              <a:t>ission de papiers scientifiques, livre blanc…etc. </a:t>
            </a:r>
          </a:p>
        </p:txBody>
      </p:sp>
      <p:sp>
        <p:nvSpPr>
          <p:cNvPr id="30" name="TextBox 30"/>
          <p:cNvSpPr txBox="1"/>
          <p:nvPr/>
        </p:nvSpPr>
        <p:spPr>
          <a:xfrm>
            <a:off x="10125835" y="6507274"/>
            <a:ext cx="7133465"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Prés</a:t>
            </a:r>
            <a:r>
              <a:rPr lang="en-US" sz="2000" b="1" u="none" strike="noStrike">
                <a:solidFill>
                  <a:srgbClr val="000000"/>
                </a:solidFill>
                <a:latin typeface="Libre Franklin Medium"/>
                <a:ea typeface="Libre Franklin Medium"/>
                <a:cs typeface="Libre Franklin Medium"/>
                <a:sym typeface="Libre Franklin Medium"/>
              </a:rPr>
              <a:t>entations et conférences.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7078" y="-670628"/>
            <a:ext cx="6835073" cy="6271723"/>
            <a:chOff x="0" y="0"/>
            <a:chExt cx="385452" cy="353683"/>
          </a:xfrm>
        </p:grpSpPr>
        <p:sp>
          <p:nvSpPr>
            <p:cNvPr id="3" name="Freeform 3"/>
            <p:cNvSpPr/>
            <p:nvPr/>
          </p:nvSpPr>
          <p:spPr>
            <a:xfrm>
              <a:off x="0" y="0"/>
              <a:ext cx="385452" cy="353683"/>
            </a:xfrm>
            <a:custGeom>
              <a:avLst/>
              <a:gdLst/>
              <a:ahLst/>
              <a:cxnLst/>
              <a:rect l="l" t="t" r="r" b="b"/>
              <a:pathLst>
                <a:path w="385452" h="353683">
                  <a:moveTo>
                    <a:pt x="18123" y="0"/>
                  </a:moveTo>
                  <a:lnTo>
                    <a:pt x="367329" y="0"/>
                  </a:lnTo>
                  <a:cubicBezTo>
                    <a:pt x="377338" y="0"/>
                    <a:pt x="385452" y="8114"/>
                    <a:pt x="385452" y="18123"/>
                  </a:cubicBezTo>
                  <a:lnTo>
                    <a:pt x="385452" y="335560"/>
                  </a:lnTo>
                  <a:cubicBezTo>
                    <a:pt x="385452" y="345569"/>
                    <a:pt x="377338" y="353683"/>
                    <a:pt x="367329" y="353683"/>
                  </a:cubicBezTo>
                  <a:lnTo>
                    <a:pt x="18123" y="353683"/>
                  </a:lnTo>
                  <a:cubicBezTo>
                    <a:pt x="8114" y="353683"/>
                    <a:pt x="0" y="345569"/>
                    <a:pt x="0" y="335560"/>
                  </a:cubicBezTo>
                  <a:lnTo>
                    <a:pt x="0" y="18123"/>
                  </a:lnTo>
                  <a:cubicBezTo>
                    <a:pt x="0" y="8114"/>
                    <a:pt x="8114" y="0"/>
                    <a:pt x="18123" y="0"/>
                  </a:cubicBezTo>
                  <a:close/>
                </a:path>
              </a:pathLst>
            </a:custGeom>
            <a:solidFill>
              <a:srgbClr val="7F2191"/>
            </a:solidFill>
          </p:spPr>
        </p:sp>
        <p:sp>
          <p:nvSpPr>
            <p:cNvPr id="4" name="TextBox 4"/>
            <p:cNvSpPr txBox="1"/>
            <p:nvPr/>
          </p:nvSpPr>
          <p:spPr>
            <a:xfrm>
              <a:off x="0" y="-38100"/>
              <a:ext cx="385452" cy="391783"/>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2240585" y="1550962"/>
            <a:ext cx="3884629" cy="6883676"/>
            <a:chOff x="0" y="0"/>
            <a:chExt cx="1850656" cy="3279416"/>
          </a:xfrm>
        </p:grpSpPr>
        <p:sp>
          <p:nvSpPr>
            <p:cNvPr id="6" name="Freeform 6"/>
            <p:cNvSpPr/>
            <p:nvPr/>
          </p:nvSpPr>
          <p:spPr>
            <a:xfrm>
              <a:off x="0" y="0"/>
              <a:ext cx="1850656" cy="3279416"/>
            </a:xfrm>
            <a:custGeom>
              <a:avLst/>
              <a:gdLst/>
              <a:ahLst/>
              <a:cxnLst/>
              <a:rect l="l" t="t" r="r" b="b"/>
              <a:pathLst>
                <a:path w="1850656" h="3279416">
                  <a:moveTo>
                    <a:pt x="37866" y="0"/>
                  </a:moveTo>
                  <a:lnTo>
                    <a:pt x="1812790" y="0"/>
                  </a:lnTo>
                  <a:cubicBezTo>
                    <a:pt x="1822832" y="0"/>
                    <a:pt x="1832464" y="3989"/>
                    <a:pt x="1839565" y="11091"/>
                  </a:cubicBezTo>
                  <a:cubicBezTo>
                    <a:pt x="1846666" y="18192"/>
                    <a:pt x="1850656" y="27824"/>
                    <a:pt x="1850656" y="37866"/>
                  </a:cubicBezTo>
                  <a:lnTo>
                    <a:pt x="1850656" y="3241550"/>
                  </a:lnTo>
                  <a:cubicBezTo>
                    <a:pt x="1850656" y="3262463"/>
                    <a:pt x="1833703" y="3279416"/>
                    <a:pt x="1812790" y="3279416"/>
                  </a:cubicBezTo>
                  <a:lnTo>
                    <a:pt x="37866" y="3279416"/>
                  </a:lnTo>
                  <a:cubicBezTo>
                    <a:pt x="27824" y="3279416"/>
                    <a:pt x="18192" y="3275427"/>
                    <a:pt x="11091" y="3268325"/>
                  </a:cubicBezTo>
                  <a:cubicBezTo>
                    <a:pt x="3989" y="3261224"/>
                    <a:pt x="0" y="3251593"/>
                    <a:pt x="0" y="3241550"/>
                  </a:cubicBezTo>
                  <a:lnTo>
                    <a:pt x="0" y="37866"/>
                  </a:lnTo>
                  <a:cubicBezTo>
                    <a:pt x="0" y="27824"/>
                    <a:pt x="3989" y="18192"/>
                    <a:pt x="11091" y="11091"/>
                  </a:cubicBezTo>
                  <a:cubicBezTo>
                    <a:pt x="18192" y="3989"/>
                    <a:pt x="27824" y="0"/>
                    <a:pt x="37866" y="0"/>
                  </a:cubicBezTo>
                  <a:close/>
                </a:path>
              </a:pathLst>
            </a:custGeom>
            <a:solidFill>
              <a:srgbClr val="FFFFFF"/>
            </a:solidFill>
          </p:spPr>
        </p:sp>
        <p:sp>
          <p:nvSpPr>
            <p:cNvPr id="7" name="TextBox 7"/>
            <p:cNvSpPr txBox="1"/>
            <p:nvPr/>
          </p:nvSpPr>
          <p:spPr>
            <a:xfrm>
              <a:off x="0" y="-38100"/>
              <a:ext cx="1850656" cy="33175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588325" y="1860724"/>
            <a:ext cx="5999340" cy="7480742"/>
            <a:chOff x="0" y="0"/>
            <a:chExt cx="929455" cy="1158963"/>
          </a:xfrm>
        </p:grpSpPr>
        <p:sp>
          <p:nvSpPr>
            <p:cNvPr id="9" name="Freeform 9"/>
            <p:cNvSpPr/>
            <p:nvPr/>
          </p:nvSpPr>
          <p:spPr>
            <a:xfrm>
              <a:off x="0" y="0"/>
              <a:ext cx="929455" cy="1158963"/>
            </a:xfrm>
            <a:custGeom>
              <a:avLst/>
              <a:gdLst/>
              <a:ahLst/>
              <a:cxnLst/>
              <a:rect l="l" t="t" r="r" b="b"/>
              <a:pathLst>
                <a:path w="929455" h="1158963">
                  <a:moveTo>
                    <a:pt x="29681" y="0"/>
                  </a:moveTo>
                  <a:lnTo>
                    <a:pt x="899774" y="0"/>
                  </a:lnTo>
                  <a:cubicBezTo>
                    <a:pt x="907646" y="0"/>
                    <a:pt x="915195" y="3127"/>
                    <a:pt x="920762" y="8693"/>
                  </a:cubicBezTo>
                  <a:cubicBezTo>
                    <a:pt x="926328" y="14259"/>
                    <a:pt x="929455" y="21809"/>
                    <a:pt x="929455" y="29681"/>
                  </a:cubicBezTo>
                  <a:lnTo>
                    <a:pt x="929455" y="1129282"/>
                  </a:lnTo>
                  <a:cubicBezTo>
                    <a:pt x="929455" y="1145674"/>
                    <a:pt x="916166" y="1158963"/>
                    <a:pt x="899774" y="1158963"/>
                  </a:cubicBezTo>
                  <a:lnTo>
                    <a:pt x="29681" y="1158963"/>
                  </a:lnTo>
                  <a:cubicBezTo>
                    <a:pt x="21809" y="1158963"/>
                    <a:pt x="14259" y="1155836"/>
                    <a:pt x="8693" y="1150269"/>
                  </a:cubicBezTo>
                  <a:cubicBezTo>
                    <a:pt x="3127" y="1144703"/>
                    <a:pt x="0" y="1137154"/>
                    <a:pt x="0" y="1129282"/>
                  </a:cubicBezTo>
                  <a:lnTo>
                    <a:pt x="0" y="29681"/>
                  </a:lnTo>
                  <a:cubicBezTo>
                    <a:pt x="0" y="13288"/>
                    <a:pt x="13288" y="0"/>
                    <a:pt x="29681" y="0"/>
                  </a:cubicBezTo>
                  <a:close/>
                </a:path>
              </a:pathLst>
            </a:custGeom>
            <a:blipFill>
              <a:blip r:embed="rId2"/>
              <a:stretch>
                <a:fillRect l="-141907" r="-13544"/>
              </a:stretch>
            </a:blipFill>
            <a:ln cap="rnd">
              <a:noFill/>
              <a:prstDash val="solid"/>
              <a:round/>
            </a:ln>
          </p:spPr>
        </p:sp>
      </p:grpSp>
      <p:sp>
        <p:nvSpPr>
          <p:cNvPr id="10" name="Freeform 10"/>
          <p:cNvSpPr/>
          <p:nvPr/>
        </p:nvSpPr>
        <p:spPr>
          <a:xfrm>
            <a:off x="9572976" y="7255346"/>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9572976" y="7864945"/>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9572976" y="8474544"/>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9572976" y="9084143"/>
            <a:ext cx="355335" cy="250066"/>
          </a:xfrm>
          <a:custGeom>
            <a:avLst/>
            <a:gdLst/>
            <a:ahLst/>
            <a:cxnLst/>
            <a:rect l="l" t="t" r="r" b="b"/>
            <a:pathLst>
              <a:path w="355335" h="250066">
                <a:moveTo>
                  <a:pt x="0" y="0"/>
                </a:moveTo>
                <a:lnTo>
                  <a:pt x="355335" y="0"/>
                </a:lnTo>
                <a:lnTo>
                  <a:pt x="355335" y="250066"/>
                </a:lnTo>
                <a:lnTo>
                  <a:pt x="0" y="2500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9572976" y="3987414"/>
            <a:ext cx="7686324" cy="914398"/>
            <a:chOff x="0" y="0"/>
            <a:chExt cx="10248432" cy="1219197"/>
          </a:xfrm>
        </p:grpSpPr>
        <p:sp>
          <p:nvSpPr>
            <p:cNvPr id="15" name="Freeform 15"/>
            <p:cNvSpPr/>
            <p:nvPr/>
          </p:nvSpPr>
          <p:spPr>
            <a:xfrm>
              <a:off x="0" y="876100"/>
              <a:ext cx="473780" cy="333421"/>
            </a:xfrm>
            <a:custGeom>
              <a:avLst/>
              <a:gdLst/>
              <a:ahLst/>
              <a:cxnLst/>
              <a:rect l="l" t="t" r="r" b="b"/>
              <a:pathLst>
                <a:path w="473780" h="333421">
                  <a:moveTo>
                    <a:pt x="0" y="0"/>
                  </a:moveTo>
                  <a:lnTo>
                    <a:pt x="473780" y="0"/>
                  </a:lnTo>
                  <a:lnTo>
                    <a:pt x="473780" y="333421"/>
                  </a:lnTo>
                  <a:lnTo>
                    <a:pt x="0" y="333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737145" y="746124"/>
              <a:ext cx="9511287" cy="4730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Forma</a:t>
              </a:r>
              <a:r>
                <a:rPr lang="en-US" sz="2000" b="1" u="none" strike="noStrike">
                  <a:solidFill>
                    <a:srgbClr val="000000"/>
                  </a:solidFill>
                  <a:latin typeface="Libre Franklin Medium"/>
                  <a:ea typeface="Libre Franklin Medium"/>
                  <a:cs typeface="Libre Franklin Medium"/>
                  <a:sym typeface="Libre Franklin Medium"/>
                </a:rPr>
                <a:t>tions spécifiques :</a:t>
              </a:r>
            </a:p>
          </p:txBody>
        </p:sp>
        <p:sp>
          <p:nvSpPr>
            <p:cNvPr id="17" name="Freeform 17"/>
            <p:cNvSpPr/>
            <p:nvPr/>
          </p:nvSpPr>
          <p:spPr>
            <a:xfrm>
              <a:off x="0" y="63301"/>
              <a:ext cx="473780" cy="333421"/>
            </a:xfrm>
            <a:custGeom>
              <a:avLst/>
              <a:gdLst/>
              <a:ahLst/>
              <a:cxnLst/>
              <a:rect l="l" t="t" r="r" b="b"/>
              <a:pathLst>
                <a:path w="473780" h="333421">
                  <a:moveTo>
                    <a:pt x="0" y="0"/>
                  </a:moveTo>
                  <a:lnTo>
                    <a:pt x="473780" y="0"/>
                  </a:lnTo>
                  <a:lnTo>
                    <a:pt x="473780" y="333421"/>
                  </a:lnTo>
                  <a:lnTo>
                    <a:pt x="0" y="333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p:cNvSpPr txBox="1"/>
            <p:nvPr/>
          </p:nvSpPr>
          <p:spPr>
            <a:xfrm>
              <a:off x="737145" y="-66675"/>
              <a:ext cx="9511287" cy="4730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Forma</a:t>
              </a:r>
              <a:r>
                <a:rPr lang="en-US" sz="2000" b="1" u="none" strike="noStrike">
                  <a:solidFill>
                    <a:srgbClr val="000000"/>
                  </a:solidFill>
                  <a:latin typeface="Libre Franklin Medium"/>
                  <a:ea typeface="Libre Franklin Medium"/>
                  <a:cs typeface="Libre Franklin Medium"/>
                  <a:sym typeface="Libre Franklin Medium"/>
                </a:rPr>
                <a:t>tion de base en recherche clinique (BPC)</a:t>
              </a:r>
            </a:p>
          </p:txBody>
        </p:sp>
      </p:grpSp>
      <p:sp>
        <p:nvSpPr>
          <p:cNvPr id="19" name="Freeform 19"/>
          <p:cNvSpPr/>
          <p:nvPr/>
        </p:nvSpPr>
        <p:spPr>
          <a:xfrm>
            <a:off x="10125835" y="5223608"/>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sp>
        <p:nvSpPr>
          <p:cNvPr id="20" name="Freeform 20"/>
          <p:cNvSpPr/>
          <p:nvPr/>
        </p:nvSpPr>
        <p:spPr>
          <a:xfrm>
            <a:off x="10135360" y="5632290"/>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sp>
        <p:nvSpPr>
          <p:cNvPr id="21" name="Freeform 21"/>
          <p:cNvSpPr/>
          <p:nvPr/>
        </p:nvSpPr>
        <p:spPr>
          <a:xfrm>
            <a:off x="10125835" y="6356188"/>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sp>
        <p:nvSpPr>
          <p:cNvPr id="22" name="Freeform 22"/>
          <p:cNvSpPr/>
          <p:nvPr/>
        </p:nvSpPr>
        <p:spPr>
          <a:xfrm>
            <a:off x="10125835" y="6771477"/>
            <a:ext cx="243477" cy="121919"/>
          </a:xfrm>
          <a:custGeom>
            <a:avLst/>
            <a:gdLst/>
            <a:ahLst/>
            <a:cxnLst/>
            <a:rect l="l" t="t" r="r" b="b"/>
            <a:pathLst>
              <a:path w="243477" h="121919">
                <a:moveTo>
                  <a:pt x="0" y="0"/>
                </a:moveTo>
                <a:lnTo>
                  <a:pt x="243477" y="0"/>
                </a:lnTo>
                <a:lnTo>
                  <a:pt x="243477" y="121919"/>
                </a:lnTo>
                <a:lnTo>
                  <a:pt x="0" y="121919"/>
                </a:lnTo>
                <a:lnTo>
                  <a:pt x="0" y="0"/>
                </a:lnTo>
                <a:close/>
              </a:path>
            </a:pathLst>
          </a:custGeom>
          <a:blipFill>
            <a:blip r:embed="rId5">
              <a:extLst>
                <a:ext uri="{96DAC541-7B7A-43D3-8B79-37D633B846F1}">
                  <asvg:svgBlip xmlns:asvg="http://schemas.microsoft.com/office/drawing/2016/SVG/main" r:embed="rId6"/>
                </a:ext>
              </a:extLst>
            </a:blip>
            <a:stretch>
              <a:fillRect l="-201198"/>
            </a:stretch>
          </a:blipFill>
        </p:spPr>
      </p:sp>
      <p:grpSp>
        <p:nvGrpSpPr>
          <p:cNvPr id="23" name="Group 23"/>
          <p:cNvGrpSpPr/>
          <p:nvPr/>
        </p:nvGrpSpPr>
        <p:grpSpPr>
          <a:xfrm>
            <a:off x="9577554" y="3228411"/>
            <a:ext cx="721810" cy="181928"/>
            <a:chOff x="0" y="0"/>
            <a:chExt cx="962414" cy="242570"/>
          </a:xfrm>
        </p:grpSpPr>
        <p:grpSp>
          <p:nvGrpSpPr>
            <p:cNvPr id="24" name="Group 24"/>
            <p:cNvGrpSpPr/>
            <p:nvPr/>
          </p:nvGrpSpPr>
          <p:grpSpPr>
            <a:xfrm>
              <a:off x="0" y="0"/>
              <a:ext cx="242570" cy="242570"/>
              <a:chOff x="0" y="0"/>
              <a:chExt cx="130677" cy="130677"/>
            </a:xfrm>
          </p:grpSpPr>
          <p:sp>
            <p:nvSpPr>
              <p:cNvPr id="25" name="Freeform 25"/>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6" name="TextBox 26"/>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27" name="Group 27"/>
            <p:cNvGrpSpPr/>
            <p:nvPr/>
          </p:nvGrpSpPr>
          <p:grpSpPr>
            <a:xfrm>
              <a:off x="356870" y="0"/>
              <a:ext cx="242570" cy="242570"/>
              <a:chOff x="0" y="0"/>
              <a:chExt cx="130677" cy="130677"/>
            </a:xfrm>
          </p:grpSpPr>
          <p:sp>
            <p:nvSpPr>
              <p:cNvPr id="28" name="Freeform 28"/>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29" name="TextBox 29"/>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30" name="Group 30"/>
            <p:cNvGrpSpPr/>
            <p:nvPr/>
          </p:nvGrpSpPr>
          <p:grpSpPr>
            <a:xfrm>
              <a:off x="719844" y="0"/>
              <a:ext cx="242570" cy="242570"/>
              <a:chOff x="0" y="0"/>
              <a:chExt cx="130677" cy="130677"/>
            </a:xfrm>
          </p:grpSpPr>
          <p:sp>
            <p:nvSpPr>
              <p:cNvPr id="31" name="Freeform 31"/>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32" name="TextBox 32"/>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sp>
        <p:nvSpPr>
          <p:cNvPr id="33" name="Freeform 33"/>
          <p:cNvSpPr/>
          <p:nvPr/>
        </p:nvSpPr>
        <p:spPr>
          <a:xfrm>
            <a:off x="413406" y="8643006"/>
            <a:ext cx="1230588" cy="1230588"/>
          </a:xfrm>
          <a:custGeom>
            <a:avLst/>
            <a:gdLst/>
            <a:ahLst/>
            <a:cxnLst/>
            <a:rect l="l" t="t" r="r" b="b"/>
            <a:pathLst>
              <a:path w="1230588" h="1230588">
                <a:moveTo>
                  <a:pt x="0" y="0"/>
                </a:moveTo>
                <a:lnTo>
                  <a:pt x="1230588" y="0"/>
                </a:lnTo>
                <a:lnTo>
                  <a:pt x="1230588" y="1230588"/>
                </a:lnTo>
                <a:lnTo>
                  <a:pt x="0" y="12305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4" name="Freeform 34"/>
          <p:cNvSpPr/>
          <p:nvPr/>
        </p:nvSpPr>
        <p:spPr>
          <a:xfrm rot="-2083018">
            <a:off x="16900326" y="-787423"/>
            <a:ext cx="2385650" cy="2385650"/>
          </a:xfrm>
          <a:custGeom>
            <a:avLst/>
            <a:gdLst/>
            <a:ahLst/>
            <a:cxnLst/>
            <a:rect l="l" t="t" r="r" b="b"/>
            <a:pathLst>
              <a:path w="2385650" h="2385650">
                <a:moveTo>
                  <a:pt x="0" y="0"/>
                </a:moveTo>
                <a:lnTo>
                  <a:pt x="2385650" y="0"/>
                </a:lnTo>
                <a:lnTo>
                  <a:pt x="2385650" y="2385650"/>
                </a:lnTo>
                <a:lnTo>
                  <a:pt x="0" y="238565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sp>
      <p:sp>
        <p:nvSpPr>
          <p:cNvPr id="35" name="TextBox 35"/>
          <p:cNvSpPr txBox="1"/>
          <p:nvPr/>
        </p:nvSpPr>
        <p:spPr>
          <a:xfrm>
            <a:off x="10125835" y="8969992"/>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F</a:t>
            </a:r>
            <a:r>
              <a:rPr lang="en-US" sz="2000" b="1" u="none" strike="noStrike">
                <a:solidFill>
                  <a:srgbClr val="000000"/>
                </a:solidFill>
                <a:latin typeface="Libre Franklin Medium"/>
                <a:ea typeface="Libre Franklin Medium"/>
                <a:cs typeface="Libre Franklin Medium"/>
                <a:sym typeface="Libre Franklin Medium"/>
              </a:rPr>
              <a:t>ormations à distance et en face to face</a:t>
            </a:r>
          </a:p>
        </p:txBody>
      </p:sp>
      <p:sp>
        <p:nvSpPr>
          <p:cNvPr id="36" name="TextBox 36"/>
          <p:cNvSpPr txBox="1"/>
          <p:nvPr/>
        </p:nvSpPr>
        <p:spPr>
          <a:xfrm>
            <a:off x="9572976" y="1813099"/>
            <a:ext cx="7338511" cy="967105"/>
          </a:xfrm>
          <a:prstGeom prst="rect">
            <a:avLst/>
          </a:prstGeom>
        </p:spPr>
        <p:txBody>
          <a:bodyPr lIns="0" tIns="0" rIns="0" bIns="0" rtlCol="0" anchor="t">
            <a:spAutoFit/>
          </a:bodyPr>
          <a:lstStyle/>
          <a:p>
            <a:pPr marL="0" lvl="0" indent="0" algn="l">
              <a:lnSpc>
                <a:spcPts val="6359"/>
              </a:lnSpc>
              <a:spcBef>
                <a:spcPct val="0"/>
              </a:spcBef>
            </a:pPr>
            <a:r>
              <a:rPr lang="en-US" sz="5999" b="1">
                <a:solidFill>
                  <a:srgbClr val="50298E"/>
                </a:solidFill>
                <a:latin typeface="Akzidenz-Grotesk Medium"/>
                <a:ea typeface="Akzidenz-Grotesk Medium"/>
                <a:cs typeface="Akzidenz-Grotesk Medium"/>
                <a:sym typeface="Akzidenz-Grotesk Medium"/>
              </a:rPr>
              <a:t>Format</a:t>
            </a:r>
            <a:r>
              <a:rPr lang="en-US" sz="5999" b="1" u="none" strike="noStrike">
                <a:solidFill>
                  <a:srgbClr val="50298E"/>
                </a:solidFill>
                <a:latin typeface="Akzidenz-Grotesk Medium"/>
                <a:ea typeface="Akzidenz-Grotesk Medium"/>
                <a:cs typeface="Akzidenz-Grotesk Medium"/>
                <a:sym typeface="Akzidenz-Grotesk Medium"/>
              </a:rPr>
              <a:t>ion</a:t>
            </a:r>
          </a:p>
        </p:txBody>
      </p:sp>
      <p:sp>
        <p:nvSpPr>
          <p:cNvPr id="37" name="TextBox 37"/>
          <p:cNvSpPr txBox="1"/>
          <p:nvPr/>
        </p:nvSpPr>
        <p:spPr>
          <a:xfrm>
            <a:off x="10462926" y="5101837"/>
            <a:ext cx="7133465" cy="300989"/>
          </a:xfrm>
          <a:prstGeom prst="rect">
            <a:avLst/>
          </a:prstGeom>
        </p:spPr>
        <p:txBody>
          <a:bodyPr lIns="0" tIns="0" rIns="0" bIns="0" rtlCol="0" anchor="t">
            <a:spAutoFit/>
          </a:bodyPr>
          <a:lstStyle/>
          <a:p>
            <a:pPr marL="0" lvl="0" indent="0" algn="l">
              <a:lnSpc>
                <a:spcPts val="2400"/>
              </a:lnSpc>
              <a:spcBef>
                <a:spcPct val="0"/>
              </a:spcBef>
            </a:pPr>
            <a:r>
              <a:rPr lang="en-US" sz="1600">
                <a:solidFill>
                  <a:srgbClr val="000000"/>
                </a:solidFill>
                <a:latin typeface="Libre Franklin"/>
                <a:ea typeface="Libre Franklin"/>
                <a:cs typeface="Libre Franklin"/>
                <a:sym typeface="Libre Franklin"/>
              </a:rPr>
              <a:t>Attaché </a:t>
            </a:r>
            <a:r>
              <a:rPr lang="en-US" sz="1600" u="none" strike="noStrike">
                <a:solidFill>
                  <a:srgbClr val="000000"/>
                </a:solidFill>
                <a:latin typeface="Libre Franklin"/>
                <a:ea typeface="Libre Franklin"/>
                <a:cs typeface="Libre Franklin"/>
                <a:sym typeface="Libre Franklin"/>
              </a:rPr>
              <a:t>de recherche clinique / Study coordinateur / Investigateurs</a:t>
            </a:r>
          </a:p>
        </p:txBody>
      </p:sp>
      <p:sp>
        <p:nvSpPr>
          <p:cNvPr id="38" name="TextBox 38"/>
          <p:cNvSpPr txBox="1"/>
          <p:nvPr/>
        </p:nvSpPr>
        <p:spPr>
          <a:xfrm>
            <a:off x="10462926" y="5514329"/>
            <a:ext cx="6448560" cy="605789"/>
          </a:xfrm>
          <a:prstGeom prst="rect">
            <a:avLst/>
          </a:prstGeom>
        </p:spPr>
        <p:txBody>
          <a:bodyPr lIns="0" tIns="0" rIns="0" bIns="0" rtlCol="0" anchor="t">
            <a:spAutoFit/>
          </a:bodyPr>
          <a:lstStyle/>
          <a:p>
            <a:pPr marL="0" lvl="0" indent="0" algn="l">
              <a:lnSpc>
                <a:spcPts val="2400"/>
              </a:lnSpc>
              <a:spcBef>
                <a:spcPct val="0"/>
              </a:spcBef>
            </a:pPr>
            <a:r>
              <a:rPr lang="en-US" sz="1600">
                <a:solidFill>
                  <a:srgbClr val="000000"/>
                </a:solidFill>
                <a:latin typeface="Libre Franklin"/>
                <a:ea typeface="Libre Franklin"/>
                <a:cs typeface="Libre Franklin"/>
                <a:sym typeface="Libre Franklin"/>
              </a:rPr>
              <a:t>Industrie pharmaceutique:</a:t>
            </a:r>
            <a:r>
              <a:rPr lang="en-US" sz="1600" u="none" strike="noStrike">
                <a:solidFill>
                  <a:srgbClr val="000000"/>
                </a:solidFill>
                <a:latin typeface="Libre Franklin"/>
                <a:ea typeface="Libre Franklin"/>
                <a:cs typeface="Libre Franklin"/>
                <a:sym typeface="Libre Franklin"/>
              </a:rPr>
              <a:t> Dept médical, Regulatory, Sales forces, Market Access, PV…</a:t>
            </a:r>
          </a:p>
        </p:txBody>
      </p:sp>
      <p:sp>
        <p:nvSpPr>
          <p:cNvPr id="39" name="TextBox 39"/>
          <p:cNvSpPr txBox="1"/>
          <p:nvPr/>
        </p:nvSpPr>
        <p:spPr>
          <a:xfrm>
            <a:off x="10125835" y="7141195"/>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Lecture critique et réd</a:t>
            </a:r>
            <a:r>
              <a:rPr lang="en-US" sz="2000" b="1" u="none" strike="noStrike">
                <a:solidFill>
                  <a:srgbClr val="000000"/>
                </a:solidFill>
                <a:latin typeface="Libre Franklin Medium"/>
                <a:ea typeface="Libre Franklin Medium"/>
                <a:cs typeface="Libre Franklin Medium"/>
                <a:sym typeface="Libre Franklin Medium"/>
              </a:rPr>
              <a:t>action d’article</a:t>
            </a:r>
          </a:p>
        </p:txBody>
      </p:sp>
      <p:sp>
        <p:nvSpPr>
          <p:cNvPr id="40" name="TextBox 40"/>
          <p:cNvSpPr txBox="1"/>
          <p:nvPr/>
        </p:nvSpPr>
        <p:spPr>
          <a:xfrm>
            <a:off x="10462926" y="6234418"/>
            <a:ext cx="7133465" cy="300989"/>
          </a:xfrm>
          <a:prstGeom prst="rect">
            <a:avLst/>
          </a:prstGeom>
        </p:spPr>
        <p:txBody>
          <a:bodyPr lIns="0" tIns="0" rIns="0" bIns="0" rtlCol="0" anchor="t">
            <a:spAutoFit/>
          </a:bodyPr>
          <a:lstStyle/>
          <a:p>
            <a:pPr marL="0" lvl="0" indent="0" algn="l">
              <a:lnSpc>
                <a:spcPts val="2400"/>
              </a:lnSpc>
              <a:spcBef>
                <a:spcPct val="0"/>
              </a:spcBef>
            </a:pPr>
            <a:r>
              <a:rPr lang="en-US" sz="1600">
                <a:solidFill>
                  <a:srgbClr val="000000"/>
                </a:solidFill>
                <a:latin typeface="Libre Franklin"/>
                <a:ea typeface="Libre Franklin"/>
                <a:cs typeface="Libre Franklin"/>
                <a:sym typeface="Libre Franklin"/>
              </a:rPr>
              <a:t>Pharmacovigilance</a:t>
            </a:r>
            <a:r>
              <a:rPr lang="en-US" sz="1600" u="none" strike="noStrike">
                <a:solidFill>
                  <a:srgbClr val="000000"/>
                </a:solidFill>
                <a:latin typeface="Libre Franklin"/>
                <a:ea typeface="Libre Franklin"/>
                <a:cs typeface="Libre Franklin"/>
                <a:sym typeface="Libre Franklin"/>
              </a:rPr>
              <a:t> dans les essais cliniques </a:t>
            </a:r>
          </a:p>
        </p:txBody>
      </p:sp>
      <p:sp>
        <p:nvSpPr>
          <p:cNvPr id="41" name="TextBox 41"/>
          <p:cNvSpPr txBox="1"/>
          <p:nvPr/>
        </p:nvSpPr>
        <p:spPr>
          <a:xfrm>
            <a:off x="10462926" y="6649706"/>
            <a:ext cx="7133465" cy="300989"/>
          </a:xfrm>
          <a:prstGeom prst="rect">
            <a:avLst/>
          </a:prstGeom>
        </p:spPr>
        <p:txBody>
          <a:bodyPr lIns="0" tIns="0" rIns="0" bIns="0" rtlCol="0" anchor="t">
            <a:spAutoFit/>
          </a:bodyPr>
          <a:lstStyle/>
          <a:p>
            <a:pPr marL="0" lvl="0" indent="0" algn="l">
              <a:lnSpc>
                <a:spcPts val="2400"/>
              </a:lnSpc>
              <a:spcBef>
                <a:spcPct val="0"/>
              </a:spcBef>
            </a:pPr>
            <a:r>
              <a:rPr lang="en-US" sz="1600">
                <a:solidFill>
                  <a:srgbClr val="000000"/>
                </a:solidFill>
                <a:latin typeface="Libre Franklin"/>
                <a:ea typeface="Libre Franklin"/>
                <a:cs typeface="Libre Franklin"/>
                <a:sym typeface="Libre Franklin"/>
              </a:rPr>
              <a:t>Data manageme</a:t>
            </a:r>
            <a:r>
              <a:rPr lang="en-US" sz="1600" u="none" strike="noStrike">
                <a:solidFill>
                  <a:srgbClr val="000000"/>
                </a:solidFill>
                <a:latin typeface="Libre Franklin"/>
                <a:ea typeface="Libre Franklin"/>
                <a:cs typeface="Libre Franklin"/>
                <a:sym typeface="Libre Franklin"/>
              </a:rPr>
              <a:t>nt et biostatistiques </a:t>
            </a:r>
          </a:p>
        </p:txBody>
      </p:sp>
      <p:sp>
        <p:nvSpPr>
          <p:cNvPr id="42" name="TextBox 42"/>
          <p:cNvSpPr txBox="1"/>
          <p:nvPr/>
        </p:nvSpPr>
        <p:spPr>
          <a:xfrm>
            <a:off x="10125835" y="7750794"/>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Techniques de </a:t>
            </a:r>
            <a:r>
              <a:rPr lang="en-US" sz="2000" b="1" u="none" strike="noStrike">
                <a:solidFill>
                  <a:srgbClr val="000000"/>
                </a:solidFill>
                <a:latin typeface="Libre Franklin Medium"/>
                <a:ea typeface="Libre Franklin Medium"/>
                <a:cs typeface="Libre Franklin Medium"/>
                <a:sym typeface="Libre Franklin Medium"/>
              </a:rPr>
              <a:t>communication</a:t>
            </a:r>
          </a:p>
        </p:txBody>
      </p:sp>
      <p:sp>
        <p:nvSpPr>
          <p:cNvPr id="43" name="TextBox 43"/>
          <p:cNvSpPr txBox="1"/>
          <p:nvPr/>
        </p:nvSpPr>
        <p:spPr>
          <a:xfrm>
            <a:off x="10125835" y="8360393"/>
            <a:ext cx="6307502" cy="371474"/>
          </a:xfrm>
          <a:prstGeom prst="rect">
            <a:avLst/>
          </a:prstGeom>
        </p:spPr>
        <p:txBody>
          <a:bodyPr lIns="0" tIns="0" rIns="0" bIns="0" rtlCol="0" anchor="t">
            <a:spAutoFit/>
          </a:bodyPr>
          <a:lstStyle/>
          <a:p>
            <a:pPr marL="0" lvl="0" indent="0" algn="l">
              <a:lnSpc>
                <a:spcPts val="3000"/>
              </a:lnSpc>
              <a:spcBef>
                <a:spcPct val="0"/>
              </a:spcBef>
            </a:pPr>
            <a:r>
              <a:rPr lang="en-US" sz="2000" b="1">
                <a:solidFill>
                  <a:srgbClr val="000000"/>
                </a:solidFill>
                <a:latin typeface="Libre Franklin Medium"/>
                <a:ea typeface="Libre Franklin Medium"/>
                <a:cs typeface="Libre Franklin Medium"/>
                <a:sym typeface="Libre Franklin Medium"/>
              </a:rPr>
              <a:t>F</a:t>
            </a:r>
            <a:r>
              <a:rPr lang="en-US" sz="2000" b="1" u="none" strike="noStrike">
                <a:solidFill>
                  <a:srgbClr val="000000"/>
                </a:solidFill>
                <a:latin typeface="Libre Franklin Medium"/>
                <a:ea typeface="Libre Franklin Medium"/>
                <a:cs typeface="Libre Franklin Medium"/>
                <a:sym typeface="Libre Franklin Medium"/>
              </a:rPr>
              <a:t>ormations accréditées (INEAS)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1968" y="6751303"/>
            <a:ext cx="877709" cy="892208"/>
          </a:xfrm>
          <a:custGeom>
            <a:avLst/>
            <a:gdLst/>
            <a:ahLst/>
            <a:cxnLst/>
            <a:rect l="l" t="t" r="r" b="b"/>
            <a:pathLst>
              <a:path w="877709" h="892208">
                <a:moveTo>
                  <a:pt x="0" y="0"/>
                </a:moveTo>
                <a:lnTo>
                  <a:pt x="877709" y="0"/>
                </a:lnTo>
                <a:lnTo>
                  <a:pt x="877709" y="892208"/>
                </a:lnTo>
                <a:lnTo>
                  <a:pt x="0" y="8922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936483" y="7236835"/>
            <a:ext cx="3333063"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contact@esclinical</a:t>
            </a:r>
            <a:r>
              <a:rPr lang="en-US" sz="2000" u="none" strike="noStrike">
                <a:solidFill>
                  <a:srgbClr val="000000"/>
                </a:solidFill>
                <a:latin typeface="Libre Franklin"/>
                <a:ea typeface="Libre Franklin"/>
                <a:cs typeface="Libre Franklin"/>
                <a:sym typeface="Libre Franklin"/>
              </a:rPr>
              <a:t>.com</a:t>
            </a:r>
          </a:p>
        </p:txBody>
      </p:sp>
      <p:sp>
        <p:nvSpPr>
          <p:cNvPr id="4" name="TextBox 4"/>
          <p:cNvSpPr txBox="1"/>
          <p:nvPr/>
        </p:nvSpPr>
        <p:spPr>
          <a:xfrm>
            <a:off x="10936483" y="6713203"/>
            <a:ext cx="1247225"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Semi-Bold"/>
                <a:ea typeface="Libre Franklin Semi-Bold"/>
                <a:cs typeface="Libre Franklin Semi-Bold"/>
                <a:sym typeface="Libre Franklin Semi-Bold"/>
              </a:rPr>
              <a:t>Email</a:t>
            </a:r>
          </a:p>
        </p:txBody>
      </p:sp>
      <p:grpSp>
        <p:nvGrpSpPr>
          <p:cNvPr id="5" name="Group 5"/>
          <p:cNvGrpSpPr/>
          <p:nvPr/>
        </p:nvGrpSpPr>
        <p:grpSpPr>
          <a:xfrm>
            <a:off x="1467470" y="3984445"/>
            <a:ext cx="721810" cy="181928"/>
            <a:chOff x="0" y="0"/>
            <a:chExt cx="962414" cy="242570"/>
          </a:xfrm>
        </p:grpSpPr>
        <p:grpSp>
          <p:nvGrpSpPr>
            <p:cNvPr id="6" name="Group 6"/>
            <p:cNvGrpSpPr/>
            <p:nvPr/>
          </p:nvGrpSpPr>
          <p:grpSpPr>
            <a:xfrm>
              <a:off x="0" y="0"/>
              <a:ext cx="242570" cy="242570"/>
              <a:chOff x="0" y="0"/>
              <a:chExt cx="130677" cy="130677"/>
            </a:xfrm>
          </p:grpSpPr>
          <p:sp>
            <p:nvSpPr>
              <p:cNvPr id="7" name="Freeform 7"/>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8" name="TextBox 8"/>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9" name="Group 9"/>
            <p:cNvGrpSpPr/>
            <p:nvPr/>
          </p:nvGrpSpPr>
          <p:grpSpPr>
            <a:xfrm>
              <a:off x="356870" y="0"/>
              <a:ext cx="242570" cy="242570"/>
              <a:chOff x="0" y="0"/>
              <a:chExt cx="130677" cy="130677"/>
            </a:xfrm>
          </p:grpSpPr>
          <p:sp>
            <p:nvSpPr>
              <p:cNvPr id="10" name="Freeform 10"/>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1" name="TextBox 11"/>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nvGrpSpPr>
            <p:cNvPr id="12" name="Group 12"/>
            <p:cNvGrpSpPr/>
            <p:nvPr/>
          </p:nvGrpSpPr>
          <p:grpSpPr>
            <a:xfrm>
              <a:off x="719844" y="0"/>
              <a:ext cx="242570" cy="242570"/>
              <a:chOff x="0" y="0"/>
              <a:chExt cx="130677" cy="130677"/>
            </a:xfrm>
          </p:grpSpPr>
          <p:sp>
            <p:nvSpPr>
              <p:cNvPr id="13" name="Freeform 13"/>
              <p:cNvSpPr/>
              <p:nvPr/>
            </p:nvSpPr>
            <p:spPr>
              <a:xfrm>
                <a:off x="0" y="0"/>
                <a:ext cx="130677" cy="130677"/>
              </a:xfrm>
              <a:custGeom>
                <a:avLst/>
                <a:gdLst/>
                <a:ahLst/>
                <a:cxnLst/>
                <a:rect l="l" t="t" r="r" b="b"/>
                <a:pathLst>
                  <a:path w="130677" h="130677">
                    <a:moveTo>
                      <a:pt x="65339" y="0"/>
                    </a:moveTo>
                    <a:lnTo>
                      <a:pt x="65339" y="0"/>
                    </a:lnTo>
                    <a:cubicBezTo>
                      <a:pt x="82668" y="0"/>
                      <a:pt x="99287" y="6884"/>
                      <a:pt x="111540" y="19137"/>
                    </a:cubicBezTo>
                    <a:cubicBezTo>
                      <a:pt x="123794" y="31391"/>
                      <a:pt x="130677" y="48010"/>
                      <a:pt x="130677" y="65339"/>
                    </a:cubicBezTo>
                    <a:lnTo>
                      <a:pt x="130677" y="65339"/>
                    </a:lnTo>
                    <a:cubicBezTo>
                      <a:pt x="130677" y="82668"/>
                      <a:pt x="123794" y="99287"/>
                      <a:pt x="111540" y="111540"/>
                    </a:cubicBezTo>
                    <a:cubicBezTo>
                      <a:pt x="99287" y="123794"/>
                      <a:pt x="82668" y="130677"/>
                      <a:pt x="65339" y="130677"/>
                    </a:cubicBezTo>
                    <a:lnTo>
                      <a:pt x="65339" y="130677"/>
                    </a:lnTo>
                    <a:cubicBezTo>
                      <a:pt x="48010" y="130677"/>
                      <a:pt x="31391" y="123794"/>
                      <a:pt x="19137" y="111540"/>
                    </a:cubicBezTo>
                    <a:cubicBezTo>
                      <a:pt x="6884" y="99287"/>
                      <a:pt x="0" y="82668"/>
                      <a:pt x="0" y="65339"/>
                    </a:cubicBezTo>
                    <a:lnTo>
                      <a:pt x="0" y="65339"/>
                    </a:lnTo>
                    <a:cubicBezTo>
                      <a:pt x="0" y="48010"/>
                      <a:pt x="6884" y="31391"/>
                      <a:pt x="19137" y="19137"/>
                    </a:cubicBezTo>
                    <a:cubicBezTo>
                      <a:pt x="31391" y="6884"/>
                      <a:pt x="48010" y="0"/>
                      <a:pt x="65339" y="0"/>
                    </a:cubicBezTo>
                    <a:close/>
                  </a:path>
                </a:pathLst>
              </a:custGeom>
              <a:solidFill>
                <a:srgbClr val="7F2191"/>
              </a:solidFill>
            </p:spPr>
          </p:sp>
          <p:sp>
            <p:nvSpPr>
              <p:cNvPr id="14" name="TextBox 14"/>
              <p:cNvSpPr txBox="1"/>
              <p:nvPr/>
            </p:nvSpPr>
            <p:spPr>
              <a:xfrm>
                <a:off x="0" y="-19050"/>
                <a:ext cx="130677" cy="149727"/>
              </a:xfrm>
              <a:prstGeom prst="rect">
                <a:avLst/>
              </a:prstGeom>
            </p:spPr>
            <p:txBody>
              <a:bodyPr lIns="50800" tIns="50800" rIns="50800" bIns="50800" rtlCol="0" anchor="ctr"/>
              <a:lstStyle/>
              <a:p>
                <a:pPr algn="ctr">
                  <a:lnSpc>
                    <a:spcPts val="979"/>
                  </a:lnSpc>
                </a:pPr>
                <a:endParaRPr/>
              </a:p>
            </p:txBody>
          </p:sp>
        </p:grpSp>
      </p:grpSp>
      <p:grpSp>
        <p:nvGrpSpPr>
          <p:cNvPr id="15" name="Group 15"/>
          <p:cNvGrpSpPr/>
          <p:nvPr/>
        </p:nvGrpSpPr>
        <p:grpSpPr>
          <a:xfrm>
            <a:off x="1481968" y="8366092"/>
            <a:ext cx="877253" cy="892492"/>
            <a:chOff x="0" y="0"/>
            <a:chExt cx="231046" cy="235060"/>
          </a:xfrm>
        </p:grpSpPr>
        <p:sp>
          <p:nvSpPr>
            <p:cNvPr id="16" name="Freeform 16"/>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sp>
        <p:sp>
          <p:nvSpPr>
            <p:cNvPr id="17" name="TextBox 17"/>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18" name="Freeform 18"/>
          <p:cNvSpPr/>
          <p:nvPr/>
        </p:nvSpPr>
        <p:spPr>
          <a:xfrm>
            <a:off x="1723111" y="8553418"/>
            <a:ext cx="394967" cy="564239"/>
          </a:xfrm>
          <a:custGeom>
            <a:avLst/>
            <a:gdLst/>
            <a:ahLst/>
            <a:cxnLst/>
            <a:rect l="l" t="t" r="r" b="b"/>
            <a:pathLst>
              <a:path w="394967" h="564239">
                <a:moveTo>
                  <a:pt x="0" y="0"/>
                </a:moveTo>
                <a:lnTo>
                  <a:pt x="394967" y="0"/>
                </a:lnTo>
                <a:lnTo>
                  <a:pt x="394967" y="564238"/>
                </a:lnTo>
                <a:lnTo>
                  <a:pt x="0" y="5642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9731558" y="8366092"/>
            <a:ext cx="877253" cy="892492"/>
            <a:chOff x="0" y="0"/>
            <a:chExt cx="231046" cy="235060"/>
          </a:xfrm>
        </p:grpSpPr>
        <p:sp>
          <p:nvSpPr>
            <p:cNvPr id="20" name="Freeform 20"/>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sp>
        <p:sp>
          <p:nvSpPr>
            <p:cNvPr id="21" name="TextBox 21"/>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22" name="Freeform 22"/>
          <p:cNvSpPr/>
          <p:nvPr/>
        </p:nvSpPr>
        <p:spPr>
          <a:xfrm>
            <a:off x="9890815" y="8532969"/>
            <a:ext cx="558740" cy="558740"/>
          </a:xfrm>
          <a:custGeom>
            <a:avLst/>
            <a:gdLst/>
            <a:ahLst/>
            <a:cxnLst/>
            <a:rect l="l" t="t" r="r" b="b"/>
            <a:pathLst>
              <a:path w="558740" h="558740">
                <a:moveTo>
                  <a:pt x="0" y="0"/>
                </a:moveTo>
                <a:lnTo>
                  <a:pt x="558740" y="0"/>
                </a:lnTo>
                <a:lnTo>
                  <a:pt x="558740" y="558740"/>
                </a:lnTo>
                <a:lnTo>
                  <a:pt x="0" y="5587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TextBox 23"/>
          <p:cNvSpPr txBox="1"/>
          <p:nvPr/>
        </p:nvSpPr>
        <p:spPr>
          <a:xfrm>
            <a:off x="10936483" y="8851624"/>
            <a:ext cx="3653320"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esclinical</a:t>
            </a:r>
            <a:r>
              <a:rPr lang="en-US" sz="2000" u="none" strike="noStrike">
                <a:solidFill>
                  <a:srgbClr val="000000"/>
                </a:solidFill>
                <a:latin typeface="Libre Franklin"/>
                <a:ea typeface="Libre Franklin"/>
                <a:cs typeface="Libre Franklin"/>
                <a:sym typeface="Libre Franklin"/>
              </a:rPr>
              <a:t>.com</a:t>
            </a:r>
          </a:p>
        </p:txBody>
      </p:sp>
      <p:sp>
        <p:nvSpPr>
          <p:cNvPr id="24" name="TextBox 24"/>
          <p:cNvSpPr txBox="1"/>
          <p:nvPr/>
        </p:nvSpPr>
        <p:spPr>
          <a:xfrm>
            <a:off x="2672394" y="7236835"/>
            <a:ext cx="2576154" cy="371474"/>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000000"/>
                </a:solidFill>
                <a:latin typeface="Libre Franklin"/>
                <a:ea typeface="Libre Franklin"/>
                <a:cs typeface="Libre Franklin"/>
                <a:sym typeface="Libre Franklin"/>
              </a:rPr>
              <a:t>+213 20 33 91 20</a:t>
            </a:r>
          </a:p>
        </p:txBody>
      </p:sp>
      <p:sp>
        <p:nvSpPr>
          <p:cNvPr id="25" name="TextBox 25"/>
          <p:cNvSpPr txBox="1"/>
          <p:nvPr/>
        </p:nvSpPr>
        <p:spPr>
          <a:xfrm>
            <a:off x="2672394" y="6713203"/>
            <a:ext cx="1735809" cy="412750"/>
          </a:xfrm>
          <a:prstGeom prst="rect">
            <a:avLst/>
          </a:prstGeom>
        </p:spPr>
        <p:txBody>
          <a:bodyPr lIns="0" tIns="0" rIns="0" bIns="0" rtlCol="0" anchor="t">
            <a:spAutoFit/>
          </a:bodyPr>
          <a:lstStyle/>
          <a:p>
            <a:pPr algn="l">
              <a:lnSpc>
                <a:spcPts val="3499"/>
              </a:lnSpc>
            </a:pPr>
            <a:r>
              <a:rPr lang="en-US" sz="2499" b="1">
                <a:solidFill>
                  <a:srgbClr val="50298E"/>
                </a:solidFill>
                <a:latin typeface="Libre Franklin Semi-Bold"/>
                <a:ea typeface="Libre Franklin Semi-Bold"/>
                <a:cs typeface="Libre Franklin Semi-Bold"/>
                <a:sym typeface="Libre Franklin Semi-Bold"/>
              </a:rPr>
              <a:t>Téléphone</a:t>
            </a:r>
          </a:p>
        </p:txBody>
      </p:sp>
      <p:sp>
        <p:nvSpPr>
          <p:cNvPr id="26" name="TextBox 26"/>
          <p:cNvSpPr txBox="1"/>
          <p:nvPr/>
        </p:nvSpPr>
        <p:spPr>
          <a:xfrm>
            <a:off x="2672394" y="8847831"/>
            <a:ext cx="6089344" cy="371474"/>
          </a:xfrm>
          <a:prstGeom prst="rect">
            <a:avLst/>
          </a:prstGeom>
        </p:spPr>
        <p:txBody>
          <a:bodyPr lIns="0" tIns="0" rIns="0" bIns="0" rtlCol="0" anchor="t">
            <a:spAutoFit/>
          </a:bodyPr>
          <a:lstStyle/>
          <a:p>
            <a:pPr marL="0" lvl="0" indent="0" algn="l">
              <a:lnSpc>
                <a:spcPts val="3000"/>
              </a:lnSpc>
              <a:spcBef>
                <a:spcPct val="0"/>
              </a:spcBef>
            </a:pPr>
            <a:r>
              <a:rPr lang="en-US" sz="2000">
                <a:solidFill>
                  <a:srgbClr val="000000"/>
                </a:solidFill>
                <a:latin typeface="Libre Franklin"/>
                <a:ea typeface="Libre Franklin"/>
                <a:cs typeface="Libre Franklin"/>
                <a:sym typeface="Libre Franklin"/>
              </a:rPr>
              <a:t>76, Coop Mina Benhaddadi Dar Diaf Chéraga, Alger</a:t>
            </a:r>
          </a:p>
        </p:txBody>
      </p:sp>
      <p:sp>
        <p:nvSpPr>
          <p:cNvPr id="27" name="TextBox 27"/>
          <p:cNvSpPr txBox="1"/>
          <p:nvPr/>
        </p:nvSpPr>
        <p:spPr>
          <a:xfrm>
            <a:off x="2662869" y="8324199"/>
            <a:ext cx="1735809"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Semi-Bold"/>
                <a:ea typeface="Libre Franklin Semi-Bold"/>
                <a:cs typeface="Libre Franklin Semi-Bold"/>
                <a:sym typeface="Libre Franklin Semi-Bold"/>
              </a:rPr>
              <a:t>Adresse</a:t>
            </a:r>
          </a:p>
        </p:txBody>
      </p:sp>
      <p:sp>
        <p:nvSpPr>
          <p:cNvPr id="28" name="TextBox 28"/>
          <p:cNvSpPr txBox="1"/>
          <p:nvPr/>
        </p:nvSpPr>
        <p:spPr>
          <a:xfrm>
            <a:off x="10936483" y="8327992"/>
            <a:ext cx="1735809" cy="412750"/>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50298E"/>
                </a:solidFill>
                <a:latin typeface="Libre Franklin Bold"/>
                <a:ea typeface="Libre Franklin Bold"/>
                <a:cs typeface="Libre Franklin Bold"/>
                <a:sym typeface="Libre Franklin Bold"/>
              </a:rPr>
              <a:t>Site web</a:t>
            </a:r>
          </a:p>
        </p:txBody>
      </p:sp>
      <p:sp>
        <p:nvSpPr>
          <p:cNvPr id="29" name="TextBox 29"/>
          <p:cNvSpPr txBox="1"/>
          <p:nvPr/>
        </p:nvSpPr>
        <p:spPr>
          <a:xfrm>
            <a:off x="1394833" y="2238389"/>
            <a:ext cx="4650557" cy="1515966"/>
          </a:xfrm>
          <a:prstGeom prst="rect">
            <a:avLst/>
          </a:prstGeom>
        </p:spPr>
        <p:txBody>
          <a:bodyPr lIns="0" tIns="0" rIns="0" bIns="0" rtlCol="0" anchor="t">
            <a:spAutoFit/>
          </a:bodyPr>
          <a:lstStyle/>
          <a:p>
            <a:pPr algn="l">
              <a:lnSpc>
                <a:spcPts val="10090"/>
              </a:lnSpc>
            </a:pPr>
            <a:r>
              <a:rPr lang="en-US" sz="9519" b="1">
                <a:solidFill>
                  <a:srgbClr val="50298E"/>
                </a:solidFill>
                <a:latin typeface="Akzidenz-Grotesk Medium"/>
                <a:ea typeface="Akzidenz-Grotesk Medium"/>
                <a:cs typeface="Akzidenz-Grotesk Medium"/>
                <a:sym typeface="Akzidenz-Grotesk Medium"/>
              </a:rPr>
              <a:t>Merci.</a:t>
            </a:r>
          </a:p>
        </p:txBody>
      </p:sp>
      <p:sp>
        <p:nvSpPr>
          <p:cNvPr id="30" name="TextBox 30"/>
          <p:cNvSpPr txBox="1"/>
          <p:nvPr/>
        </p:nvSpPr>
        <p:spPr>
          <a:xfrm>
            <a:off x="1467470" y="4498332"/>
            <a:ext cx="6800362" cy="1133474"/>
          </a:xfrm>
          <a:prstGeom prst="rect">
            <a:avLst/>
          </a:prstGeom>
        </p:spPr>
        <p:txBody>
          <a:bodyPr lIns="0" tIns="0" rIns="0" bIns="0" rtlCol="0" anchor="t">
            <a:spAutoFit/>
          </a:bodyPr>
          <a:lstStyle/>
          <a:p>
            <a:pPr algn="l">
              <a:lnSpc>
                <a:spcPts val="3000"/>
              </a:lnSpc>
            </a:pPr>
            <a:r>
              <a:rPr lang="en-US" sz="2000">
                <a:solidFill>
                  <a:srgbClr val="000000"/>
                </a:solidFill>
                <a:latin typeface="Libre Franklin"/>
                <a:ea typeface="Libre Franklin"/>
                <a:cs typeface="Libre Franklin"/>
                <a:sym typeface="Libre Franklin"/>
              </a:rPr>
              <a:t>Nous restons à votre disposition pour toute question ou demande d’information. Contactez-nous pour échanger sur vos besoins et vos projets.</a:t>
            </a:r>
          </a:p>
        </p:txBody>
      </p:sp>
      <p:grpSp>
        <p:nvGrpSpPr>
          <p:cNvPr id="31" name="Group 31"/>
          <p:cNvGrpSpPr/>
          <p:nvPr/>
        </p:nvGrpSpPr>
        <p:grpSpPr>
          <a:xfrm>
            <a:off x="9731558" y="6751303"/>
            <a:ext cx="877253" cy="892492"/>
            <a:chOff x="0" y="0"/>
            <a:chExt cx="231046" cy="235060"/>
          </a:xfrm>
        </p:grpSpPr>
        <p:sp>
          <p:nvSpPr>
            <p:cNvPr id="32" name="Freeform 32"/>
            <p:cNvSpPr/>
            <p:nvPr/>
          </p:nvSpPr>
          <p:spPr>
            <a:xfrm>
              <a:off x="0" y="0"/>
              <a:ext cx="231046" cy="235060"/>
            </a:xfrm>
            <a:custGeom>
              <a:avLst/>
              <a:gdLst/>
              <a:ahLst/>
              <a:cxnLst/>
              <a:rect l="l" t="t" r="r" b="b"/>
              <a:pathLst>
                <a:path w="231046" h="235060">
                  <a:moveTo>
                    <a:pt x="114727" y="0"/>
                  </a:moveTo>
                  <a:lnTo>
                    <a:pt x="116318" y="0"/>
                  </a:lnTo>
                  <a:cubicBezTo>
                    <a:pt x="179681" y="0"/>
                    <a:pt x="231046" y="51365"/>
                    <a:pt x="231046" y="114727"/>
                  </a:cubicBezTo>
                  <a:lnTo>
                    <a:pt x="231046" y="120332"/>
                  </a:lnTo>
                  <a:cubicBezTo>
                    <a:pt x="231046" y="150760"/>
                    <a:pt x="218959" y="179941"/>
                    <a:pt x="197443" y="201457"/>
                  </a:cubicBezTo>
                  <a:cubicBezTo>
                    <a:pt x="175927" y="222972"/>
                    <a:pt x="146746" y="235060"/>
                    <a:pt x="116318" y="235060"/>
                  </a:cubicBezTo>
                  <a:lnTo>
                    <a:pt x="114727" y="235060"/>
                  </a:lnTo>
                  <a:cubicBezTo>
                    <a:pt x="51365" y="235060"/>
                    <a:pt x="0" y="183695"/>
                    <a:pt x="0" y="120332"/>
                  </a:cubicBezTo>
                  <a:lnTo>
                    <a:pt x="0" y="114727"/>
                  </a:lnTo>
                  <a:cubicBezTo>
                    <a:pt x="0" y="51365"/>
                    <a:pt x="51365" y="0"/>
                    <a:pt x="114727" y="0"/>
                  </a:cubicBezTo>
                  <a:close/>
                </a:path>
              </a:pathLst>
            </a:custGeom>
            <a:solidFill>
              <a:srgbClr val="7F2191"/>
            </a:solidFill>
          </p:spPr>
        </p:sp>
        <p:sp>
          <p:nvSpPr>
            <p:cNvPr id="33" name="TextBox 33"/>
            <p:cNvSpPr txBox="1"/>
            <p:nvPr/>
          </p:nvSpPr>
          <p:spPr>
            <a:xfrm>
              <a:off x="0" y="-66675"/>
              <a:ext cx="231046" cy="301735"/>
            </a:xfrm>
            <a:prstGeom prst="rect">
              <a:avLst/>
            </a:prstGeom>
          </p:spPr>
          <p:txBody>
            <a:bodyPr lIns="50800" tIns="50800" rIns="50800" bIns="50800" rtlCol="0" anchor="ctr"/>
            <a:lstStyle/>
            <a:p>
              <a:pPr algn="ctr">
                <a:lnSpc>
                  <a:spcPts val="3000"/>
                </a:lnSpc>
              </a:pPr>
              <a:endParaRPr/>
            </a:p>
          </p:txBody>
        </p:sp>
      </p:grpSp>
      <p:sp>
        <p:nvSpPr>
          <p:cNvPr id="34" name="Freeform 34"/>
          <p:cNvSpPr/>
          <p:nvPr/>
        </p:nvSpPr>
        <p:spPr>
          <a:xfrm>
            <a:off x="9878424" y="7006967"/>
            <a:ext cx="583521" cy="380880"/>
          </a:xfrm>
          <a:custGeom>
            <a:avLst/>
            <a:gdLst/>
            <a:ahLst/>
            <a:cxnLst/>
            <a:rect l="l" t="t" r="r" b="b"/>
            <a:pathLst>
              <a:path w="583521" h="380880">
                <a:moveTo>
                  <a:pt x="0" y="0"/>
                </a:moveTo>
                <a:lnTo>
                  <a:pt x="583521" y="0"/>
                </a:lnTo>
                <a:lnTo>
                  <a:pt x="583521" y="380880"/>
                </a:lnTo>
                <a:lnTo>
                  <a:pt x="0" y="3808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5" name="Freeform 35"/>
          <p:cNvSpPr/>
          <p:nvPr/>
        </p:nvSpPr>
        <p:spPr>
          <a:xfrm rot="2040788">
            <a:off x="15821392" y="7458982"/>
            <a:ext cx="4064635" cy="4064635"/>
          </a:xfrm>
          <a:custGeom>
            <a:avLst/>
            <a:gdLst/>
            <a:ahLst/>
            <a:cxnLst/>
            <a:rect l="l" t="t" r="r" b="b"/>
            <a:pathLst>
              <a:path w="4064635" h="4064635">
                <a:moveTo>
                  <a:pt x="0" y="0"/>
                </a:moveTo>
                <a:lnTo>
                  <a:pt x="4064635" y="0"/>
                </a:lnTo>
                <a:lnTo>
                  <a:pt x="4064635" y="4064635"/>
                </a:lnTo>
                <a:lnTo>
                  <a:pt x="0" y="40646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6" name="Freeform 36"/>
          <p:cNvSpPr/>
          <p:nvPr/>
        </p:nvSpPr>
        <p:spPr>
          <a:xfrm>
            <a:off x="12041448" y="1028700"/>
            <a:ext cx="5217852" cy="1318693"/>
          </a:xfrm>
          <a:custGeom>
            <a:avLst/>
            <a:gdLst/>
            <a:ahLst/>
            <a:cxnLst/>
            <a:rect l="l" t="t" r="r" b="b"/>
            <a:pathLst>
              <a:path w="5217852" h="1318693">
                <a:moveTo>
                  <a:pt x="0" y="0"/>
                </a:moveTo>
                <a:lnTo>
                  <a:pt x="5217852" y="0"/>
                </a:lnTo>
                <a:lnTo>
                  <a:pt x="5217852" y="1318693"/>
                </a:lnTo>
                <a:lnTo>
                  <a:pt x="0" y="131869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554</Words>
  <Application>Microsoft Office PowerPoint</Application>
  <PresentationFormat>Personnalisé</PresentationFormat>
  <Paragraphs>88</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14</vt:i4>
      </vt:variant>
    </vt:vector>
  </HeadingPairs>
  <TitlesOfParts>
    <vt:vector size="23" baseType="lpstr">
      <vt:lpstr>Calibri</vt:lpstr>
      <vt:lpstr>Akzidenz-Grotesk</vt:lpstr>
      <vt:lpstr>Libre Franklin Semi-Bold</vt:lpstr>
      <vt:lpstr>Akzidenz-Grotesk Medium</vt:lpstr>
      <vt:lpstr>Arial</vt:lpstr>
      <vt:lpstr>Libre Franklin Medium</vt:lpstr>
      <vt:lpstr>Libre Franklin Bold</vt:lpstr>
      <vt:lpstr>Libre Franklin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 ESCR</dc:title>
  <cp:lastModifiedBy>DABC</cp:lastModifiedBy>
  <cp:revision>2</cp:revision>
  <dcterms:created xsi:type="dcterms:W3CDTF">2006-08-16T00:00:00Z</dcterms:created>
  <dcterms:modified xsi:type="dcterms:W3CDTF">2026-08-05T14:51:19Z</dcterms:modified>
  <dc:identifier>DAG7hPVwE2o</dc:identifier>
</cp:coreProperties>
</file>